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4" r:id="rId4"/>
    <p:sldId id="265" r:id="rId5"/>
    <p:sldId id="266" r:id="rId6"/>
    <p:sldId id="258" r:id="rId7"/>
    <p:sldId id="259" r:id="rId8"/>
    <p:sldId id="260" r:id="rId9"/>
    <p:sldId id="261" r:id="rId10"/>
    <p:sldId id="263" r:id="rId11"/>
  </p:sldIdLst>
  <p:sldSz cx="14630400" cy="8229600"/>
  <p:notesSz cx="8229600" cy="146304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18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2607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89983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42360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740345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hyperlink" Target="https://movingai.com/benchmarks/mapf.html" TargetMode="External"/><Relationship Id="rId3" Type="http://schemas.openxmlformats.org/officeDocument/2006/relationships/image" Target="../media/image2.gif"/><Relationship Id="rId7" Type="http://schemas.openxmlformats.org/officeDocument/2006/relationships/hyperlink" Target="https://movingai.com/benchmarks/voxels.html" TargetMode="External"/><Relationship Id="rId12" Type="http://schemas.openxmlformats.org/officeDocument/2006/relationships/hyperlink" Target="https://www.youtube.com/playlist?list=PLsgwB9-SGvkA43MDmseV701T3gTdA-2Il"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hyperlink" Target="https://movingai.com/benchmarks/grids.html" TargetMode="External"/><Relationship Id="rId11" Type="http://schemas.openxmlformats.org/officeDocument/2006/relationships/hyperlink" Target="https://github.com/nathansttt/hog2/tree/PDB-refactor" TargetMode="External"/><Relationship Id="rId5" Type="http://schemas.openxmlformats.org/officeDocument/2006/relationships/hyperlink" Target="http://movingai.com/benchmarks/" TargetMode="External"/><Relationship Id="rId10" Type="http://schemas.openxmlformats.org/officeDocument/2006/relationships/hyperlink" Target="https://www.movingai.com/SAS/" TargetMode="External"/><Relationship Id="rId4" Type="http://schemas.openxmlformats.org/officeDocument/2006/relationships/hyperlink" Target="https://www.movingai.com/" TargetMode="External"/><Relationship Id="rId9" Type="http://schemas.openxmlformats.org/officeDocument/2006/relationships/hyperlink" Target="http://movingai.com/GPPC/"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cs.cmu.edu/~maxim/"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hyperlink" Target="https://gppc.search-conference.or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89" y="1289487"/>
            <a:ext cx="7556421" cy="1860233"/>
          </a:xfrm>
          <a:prstGeom prst="rect">
            <a:avLst/>
          </a:prstGeom>
          <a:noFill/>
          <a:ln/>
        </p:spPr>
        <p:txBody>
          <a:bodyPr wrap="squar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Large-Scale Path Planning in Maps: Research, Methods, and Applications</a:t>
            </a:r>
            <a:endParaRPr lang="en-US" sz="3900" dirty="0"/>
          </a:p>
        </p:txBody>
      </p:sp>
      <p:sp>
        <p:nvSpPr>
          <p:cNvPr id="4" name="Text 1"/>
          <p:cNvSpPr/>
          <p:nvPr/>
        </p:nvSpPr>
        <p:spPr>
          <a:xfrm>
            <a:off x="793788" y="3764756"/>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A comprehensive overview of current research, methodologies, and applications in large-scale pathfinding algorithms, with insights from leading researchers and practical implementations.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07350"/>
            <a:ext cx="11987451"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Research Landscape: Key Players and Milestones</a:t>
            </a:r>
            <a:endParaRPr lang="en-US" sz="3900" dirty="0"/>
          </a:p>
        </p:txBody>
      </p:sp>
      <p:sp>
        <p:nvSpPr>
          <p:cNvPr id="3" name="Shape 1"/>
          <p:cNvSpPr/>
          <p:nvPr/>
        </p:nvSpPr>
        <p:spPr>
          <a:xfrm>
            <a:off x="793790" y="1999059"/>
            <a:ext cx="4215289" cy="91440"/>
          </a:xfrm>
          <a:prstGeom prst="roundRect">
            <a:avLst>
              <a:gd name="adj" fmla="val 91163"/>
            </a:avLst>
          </a:prstGeom>
          <a:solidFill>
            <a:srgbClr val="2B0AFF"/>
          </a:solidFill>
          <a:ln/>
        </p:spPr>
      </p:sp>
      <p:sp>
        <p:nvSpPr>
          <p:cNvPr id="4" name="Shape 2"/>
          <p:cNvSpPr/>
          <p:nvPr/>
        </p:nvSpPr>
        <p:spPr>
          <a:xfrm>
            <a:off x="2603778" y="1724263"/>
            <a:ext cx="595313" cy="595313"/>
          </a:xfrm>
          <a:prstGeom prst="roundRect">
            <a:avLst>
              <a:gd name="adj" fmla="val 153600"/>
            </a:avLst>
          </a:prstGeom>
          <a:solidFill>
            <a:srgbClr val="2B0AFF"/>
          </a:solidFill>
          <a:ln/>
        </p:spPr>
      </p:sp>
      <p:sp>
        <p:nvSpPr>
          <p:cNvPr id="5" name="Text 3"/>
          <p:cNvSpPr/>
          <p:nvPr/>
        </p:nvSpPr>
        <p:spPr>
          <a:xfrm>
            <a:off x="2782372" y="1873091"/>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Inter Bold" pitchFamily="34" charset="0"/>
                <a:ea typeface="Inter Bold" pitchFamily="34" charset="-122"/>
                <a:cs typeface="Inter Bold" pitchFamily="34" charset="-120"/>
              </a:rPr>
              <a:t>1</a:t>
            </a:r>
            <a:endParaRPr lang="en-US" sz="1850" dirty="0"/>
          </a:p>
        </p:txBody>
      </p:sp>
      <p:sp>
        <p:nvSpPr>
          <p:cNvPr id="6" name="Text 4"/>
          <p:cNvSpPr/>
          <p:nvPr/>
        </p:nvSpPr>
        <p:spPr>
          <a:xfrm>
            <a:off x="1015008" y="2518053"/>
            <a:ext cx="3772853" cy="620316"/>
          </a:xfrm>
          <a:prstGeom prst="rect">
            <a:avLst/>
          </a:prstGeom>
          <a:noFill/>
          <a:ln/>
        </p:spPr>
        <p:txBody>
          <a:bodyPr wrap="squar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Computer Science/Gaming Pioneers</a:t>
            </a:r>
            <a:endParaRPr lang="en-US" sz="1950" dirty="0"/>
          </a:p>
        </p:txBody>
      </p:sp>
      <p:sp>
        <p:nvSpPr>
          <p:cNvPr id="7" name="Text 5"/>
          <p:cNvSpPr/>
          <p:nvPr/>
        </p:nvSpPr>
        <p:spPr>
          <a:xfrm>
            <a:off x="1015008" y="3257431"/>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Research began approximately 15 years ago, largely driven by gaming industry requirements.</a:t>
            </a:r>
            <a:endParaRPr lang="en-US" sz="1550" dirty="0"/>
          </a:p>
        </p:txBody>
      </p:sp>
      <p:sp>
        <p:nvSpPr>
          <p:cNvPr id="8" name="Text 6"/>
          <p:cNvSpPr/>
          <p:nvPr/>
        </p:nvSpPr>
        <p:spPr>
          <a:xfrm>
            <a:off x="1015008" y="4329113"/>
            <a:ext cx="3772853"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Adi Botea: HPA* (Hierarchical Pathfinding A*), CPD</a:t>
            </a:r>
            <a:endParaRPr lang="en-US" sz="1550" dirty="0"/>
          </a:p>
        </p:txBody>
      </p:sp>
      <p:sp>
        <p:nvSpPr>
          <p:cNvPr id="9" name="Text 7"/>
          <p:cNvSpPr/>
          <p:nvPr/>
        </p:nvSpPr>
        <p:spPr>
          <a:xfrm>
            <a:off x="1015008" y="5033605"/>
            <a:ext cx="3772853"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Nathan R. Sturtevant: PRA* family algorithms</a:t>
            </a:r>
            <a:endParaRPr lang="en-US" sz="1550" dirty="0"/>
          </a:p>
        </p:txBody>
      </p:sp>
      <p:sp>
        <p:nvSpPr>
          <p:cNvPr id="10" name="Text 8"/>
          <p:cNvSpPr/>
          <p:nvPr/>
        </p:nvSpPr>
        <p:spPr>
          <a:xfrm>
            <a:off x="1015008" y="5738098"/>
            <a:ext cx="3772853"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Daniel Harabor: Polyanya, JPS (Jump Point Search)</a:t>
            </a:r>
            <a:endParaRPr lang="en-US" sz="1550" dirty="0"/>
          </a:p>
        </p:txBody>
      </p:sp>
      <p:sp>
        <p:nvSpPr>
          <p:cNvPr id="11" name="Text 9"/>
          <p:cNvSpPr/>
          <p:nvPr/>
        </p:nvSpPr>
        <p:spPr>
          <a:xfrm>
            <a:off x="1015008" y="6442591"/>
            <a:ext cx="377285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Sven Koenig: Various contributions</a:t>
            </a:r>
            <a:endParaRPr lang="en-US" sz="1550" dirty="0"/>
          </a:p>
        </p:txBody>
      </p:sp>
      <p:sp>
        <p:nvSpPr>
          <p:cNvPr id="12" name="Shape 10"/>
          <p:cNvSpPr/>
          <p:nvPr/>
        </p:nvSpPr>
        <p:spPr>
          <a:xfrm>
            <a:off x="5207437" y="1999059"/>
            <a:ext cx="4215408" cy="91440"/>
          </a:xfrm>
          <a:prstGeom prst="roundRect">
            <a:avLst>
              <a:gd name="adj" fmla="val 91163"/>
            </a:avLst>
          </a:prstGeom>
          <a:solidFill>
            <a:srgbClr val="2B0AFF"/>
          </a:solidFill>
          <a:ln/>
        </p:spPr>
      </p:sp>
      <p:sp>
        <p:nvSpPr>
          <p:cNvPr id="13" name="Shape 11"/>
          <p:cNvSpPr/>
          <p:nvPr/>
        </p:nvSpPr>
        <p:spPr>
          <a:xfrm>
            <a:off x="7017425" y="1724263"/>
            <a:ext cx="595313" cy="595313"/>
          </a:xfrm>
          <a:prstGeom prst="roundRect">
            <a:avLst>
              <a:gd name="adj" fmla="val 153600"/>
            </a:avLst>
          </a:prstGeom>
          <a:solidFill>
            <a:srgbClr val="2B0AFF"/>
          </a:solidFill>
          <a:ln/>
        </p:spPr>
      </p:sp>
      <p:sp>
        <p:nvSpPr>
          <p:cNvPr id="14" name="Text 12"/>
          <p:cNvSpPr/>
          <p:nvPr/>
        </p:nvSpPr>
        <p:spPr>
          <a:xfrm>
            <a:off x="7196018" y="1873091"/>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Inter Bold" pitchFamily="34" charset="0"/>
                <a:ea typeface="Inter Bold" pitchFamily="34" charset="-122"/>
                <a:cs typeface="Inter Bold" pitchFamily="34" charset="-120"/>
              </a:rPr>
              <a:t>2</a:t>
            </a:r>
            <a:endParaRPr lang="en-US" sz="1850" dirty="0"/>
          </a:p>
        </p:txBody>
      </p:sp>
      <p:sp>
        <p:nvSpPr>
          <p:cNvPr id="15" name="Text 13"/>
          <p:cNvSpPr/>
          <p:nvPr/>
        </p:nvSpPr>
        <p:spPr>
          <a:xfrm>
            <a:off x="5428655" y="251805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Robotics Specialists</a:t>
            </a:r>
            <a:endParaRPr lang="en-US" sz="1950" dirty="0"/>
          </a:p>
        </p:txBody>
      </p:sp>
      <p:sp>
        <p:nvSpPr>
          <p:cNvPr id="16" name="Text 14"/>
          <p:cNvSpPr/>
          <p:nvPr/>
        </p:nvSpPr>
        <p:spPr>
          <a:xfrm>
            <a:off x="5428655" y="2947273"/>
            <a:ext cx="3772972"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Adapting pathfinding algorithms for real-world robotic applications with unique constraints.</a:t>
            </a:r>
            <a:endParaRPr lang="en-US" sz="1550" dirty="0"/>
          </a:p>
        </p:txBody>
      </p:sp>
      <p:sp>
        <p:nvSpPr>
          <p:cNvPr id="17" name="Text 15"/>
          <p:cNvSpPr/>
          <p:nvPr/>
        </p:nvSpPr>
        <p:spPr>
          <a:xfrm>
            <a:off x="5428655" y="4018955"/>
            <a:ext cx="3772972"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Maxim Likhachev: MRA (Multi-Resolution A*), AMRA</a:t>
            </a:r>
            <a:endParaRPr lang="en-US" sz="1550" dirty="0"/>
          </a:p>
        </p:txBody>
      </p:sp>
      <p:sp>
        <p:nvSpPr>
          <p:cNvPr id="18" name="Text 16"/>
          <p:cNvSpPr/>
          <p:nvPr/>
        </p:nvSpPr>
        <p:spPr>
          <a:xfrm>
            <a:off x="5428655" y="4723448"/>
            <a:ext cx="3772972"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Specialized implementations: CFA* (Cooperative FA*)</a:t>
            </a:r>
            <a:endParaRPr lang="en-US" sz="1550" dirty="0"/>
          </a:p>
        </p:txBody>
      </p:sp>
      <p:sp>
        <p:nvSpPr>
          <p:cNvPr id="19" name="Text 17"/>
          <p:cNvSpPr/>
          <p:nvPr/>
        </p:nvSpPr>
        <p:spPr>
          <a:xfrm>
            <a:off x="5428655" y="5427940"/>
            <a:ext cx="3772972"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WaveStar: Wave propagation techniques</a:t>
            </a:r>
            <a:endParaRPr lang="en-US" sz="1550" dirty="0"/>
          </a:p>
        </p:txBody>
      </p:sp>
      <p:sp>
        <p:nvSpPr>
          <p:cNvPr id="20" name="Shape 18"/>
          <p:cNvSpPr/>
          <p:nvPr/>
        </p:nvSpPr>
        <p:spPr>
          <a:xfrm>
            <a:off x="9621203" y="1999059"/>
            <a:ext cx="4215289" cy="91440"/>
          </a:xfrm>
          <a:prstGeom prst="roundRect">
            <a:avLst>
              <a:gd name="adj" fmla="val 91163"/>
            </a:avLst>
          </a:prstGeom>
          <a:solidFill>
            <a:srgbClr val="2B0AFF"/>
          </a:solidFill>
          <a:ln/>
        </p:spPr>
      </p:sp>
      <p:sp>
        <p:nvSpPr>
          <p:cNvPr id="21" name="Shape 19"/>
          <p:cNvSpPr/>
          <p:nvPr/>
        </p:nvSpPr>
        <p:spPr>
          <a:xfrm>
            <a:off x="11431191" y="1724263"/>
            <a:ext cx="595313" cy="595313"/>
          </a:xfrm>
          <a:prstGeom prst="roundRect">
            <a:avLst>
              <a:gd name="adj" fmla="val 153600"/>
            </a:avLst>
          </a:prstGeom>
          <a:solidFill>
            <a:srgbClr val="2B0AFF"/>
          </a:solidFill>
          <a:ln/>
        </p:spPr>
      </p:sp>
      <p:sp>
        <p:nvSpPr>
          <p:cNvPr id="22" name="Text 20"/>
          <p:cNvSpPr/>
          <p:nvPr/>
        </p:nvSpPr>
        <p:spPr>
          <a:xfrm>
            <a:off x="11609784" y="1873091"/>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Inter Bold" pitchFamily="34" charset="0"/>
                <a:ea typeface="Inter Bold" pitchFamily="34" charset="-122"/>
                <a:cs typeface="Inter Bold" pitchFamily="34" charset="-120"/>
              </a:rPr>
              <a:t>3</a:t>
            </a:r>
            <a:endParaRPr lang="en-US" sz="1850" dirty="0"/>
          </a:p>
        </p:txBody>
      </p:sp>
      <p:sp>
        <p:nvSpPr>
          <p:cNvPr id="23" name="Text 21"/>
          <p:cNvSpPr/>
          <p:nvPr/>
        </p:nvSpPr>
        <p:spPr>
          <a:xfrm>
            <a:off x="9842421" y="2518053"/>
            <a:ext cx="3772853" cy="620316"/>
          </a:xfrm>
          <a:prstGeom prst="rect">
            <a:avLst/>
          </a:prstGeom>
          <a:noFill/>
          <a:ln/>
        </p:spPr>
        <p:txBody>
          <a:bodyPr wrap="squar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Distributed Computing Researchers</a:t>
            </a:r>
            <a:endParaRPr lang="en-US" sz="1950" dirty="0"/>
          </a:p>
        </p:txBody>
      </p:sp>
      <p:sp>
        <p:nvSpPr>
          <p:cNvPr id="24" name="Text 22"/>
          <p:cNvSpPr/>
          <p:nvPr/>
        </p:nvSpPr>
        <p:spPr>
          <a:xfrm>
            <a:off x="9842421" y="3257431"/>
            <a:ext cx="3772853"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Focusing on parallelization and distribution of pathfinding workloads.</a:t>
            </a:r>
            <a:endParaRPr lang="en-US" sz="1550" dirty="0"/>
          </a:p>
        </p:txBody>
      </p:sp>
      <p:sp>
        <p:nvSpPr>
          <p:cNvPr id="25" name="Text 23"/>
          <p:cNvSpPr/>
          <p:nvPr/>
        </p:nvSpPr>
        <p:spPr>
          <a:xfrm>
            <a:off x="9842421" y="4011573"/>
            <a:ext cx="377285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Map-Reduce A* implementations</a:t>
            </a:r>
            <a:endParaRPr lang="en-US" sz="1550" dirty="0"/>
          </a:p>
        </p:txBody>
      </p:sp>
      <p:sp>
        <p:nvSpPr>
          <p:cNvPr id="26" name="Text 24"/>
          <p:cNvSpPr/>
          <p:nvPr/>
        </p:nvSpPr>
        <p:spPr>
          <a:xfrm>
            <a:off x="9842421" y="4398526"/>
            <a:ext cx="377285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Parallel processing techniques</a:t>
            </a:r>
            <a:endParaRPr lang="en-US" sz="1550" dirty="0"/>
          </a:p>
        </p:txBody>
      </p:sp>
      <p:sp>
        <p:nvSpPr>
          <p:cNvPr id="27" name="Text 25"/>
          <p:cNvSpPr/>
          <p:nvPr/>
        </p:nvSpPr>
        <p:spPr>
          <a:xfrm>
            <a:off x="9842421" y="4785479"/>
            <a:ext cx="377285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Cloud-based pathfinding solutions</a:t>
            </a:r>
            <a:endParaRPr lang="en-US" sz="1550" dirty="0"/>
          </a:p>
        </p:txBody>
      </p:sp>
      <p:sp>
        <p:nvSpPr>
          <p:cNvPr id="28" name="Text 26"/>
          <p:cNvSpPr/>
          <p:nvPr/>
        </p:nvSpPr>
        <p:spPr>
          <a:xfrm>
            <a:off x="793790" y="7204591"/>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Research identified through Google Scholar citation tracking, refined with "large map" queries, resulting in over 200 relevant publications.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07350"/>
            <a:ext cx="11987451"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Research Landscape: Key Players and Milestones</a:t>
            </a:r>
            <a:endParaRPr lang="en-US" sz="3900" dirty="0"/>
          </a:p>
        </p:txBody>
      </p:sp>
      <p:sp>
        <p:nvSpPr>
          <p:cNvPr id="3" name="Shape 1"/>
          <p:cNvSpPr/>
          <p:nvPr/>
        </p:nvSpPr>
        <p:spPr>
          <a:xfrm>
            <a:off x="793790" y="1999059"/>
            <a:ext cx="4215289" cy="91440"/>
          </a:xfrm>
          <a:prstGeom prst="roundRect">
            <a:avLst>
              <a:gd name="adj" fmla="val 91163"/>
            </a:avLst>
          </a:prstGeom>
          <a:solidFill>
            <a:srgbClr val="2B0AFF"/>
          </a:solidFill>
          <a:ln/>
        </p:spPr>
      </p:sp>
      <p:sp>
        <p:nvSpPr>
          <p:cNvPr id="4" name="Shape 2"/>
          <p:cNvSpPr/>
          <p:nvPr/>
        </p:nvSpPr>
        <p:spPr>
          <a:xfrm>
            <a:off x="2603778" y="1724263"/>
            <a:ext cx="595313" cy="595313"/>
          </a:xfrm>
          <a:prstGeom prst="roundRect">
            <a:avLst>
              <a:gd name="adj" fmla="val 153600"/>
            </a:avLst>
          </a:prstGeom>
          <a:solidFill>
            <a:srgbClr val="2B0AFF"/>
          </a:solidFill>
          <a:ln/>
        </p:spPr>
      </p:sp>
      <p:sp>
        <p:nvSpPr>
          <p:cNvPr id="5" name="Text 3"/>
          <p:cNvSpPr/>
          <p:nvPr/>
        </p:nvSpPr>
        <p:spPr>
          <a:xfrm>
            <a:off x="2782372" y="1873091"/>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Inter Bold" pitchFamily="34" charset="0"/>
                <a:ea typeface="Inter Bold" pitchFamily="34" charset="-122"/>
                <a:cs typeface="Inter Bold" pitchFamily="34" charset="-120"/>
              </a:rPr>
              <a:t>1</a:t>
            </a:r>
            <a:endParaRPr lang="en-US" sz="1850" dirty="0"/>
          </a:p>
        </p:txBody>
      </p:sp>
      <p:sp>
        <p:nvSpPr>
          <p:cNvPr id="6" name="Text 4"/>
          <p:cNvSpPr/>
          <p:nvPr/>
        </p:nvSpPr>
        <p:spPr>
          <a:xfrm>
            <a:off x="1015008" y="2518053"/>
            <a:ext cx="3772853" cy="620316"/>
          </a:xfrm>
          <a:prstGeom prst="rect">
            <a:avLst/>
          </a:prstGeom>
          <a:noFill/>
          <a:ln/>
        </p:spPr>
        <p:txBody>
          <a:bodyPr wrap="squar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Computer Science/Gaming Pioneers</a:t>
            </a:r>
            <a:endParaRPr lang="en-US" sz="1950" dirty="0"/>
          </a:p>
        </p:txBody>
      </p:sp>
      <p:sp>
        <p:nvSpPr>
          <p:cNvPr id="7" name="Text 5"/>
          <p:cNvSpPr/>
          <p:nvPr/>
        </p:nvSpPr>
        <p:spPr>
          <a:xfrm>
            <a:off x="1015008" y="3257431"/>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Research began approximately 15 years ago, largely driven by gaming industry requirements.</a:t>
            </a:r>
            <a:endParaRPr lang="en-US" sz="1550" dirty="0"/>
          </a:p>
        </p:txBody>
      </p:sp>
      <p:sp>
        <p:nvSpPr>
          <p:cNvPr id="8" name="Text 6"/>
          <p:cNvSpPr/>
          <p:nvPr/>
        </p:nvSpPr>
        <p:spPr>
          <a:xfrm>
            <a:off x="1015008" y="4329113"/>
            <a:ext cx="3772853"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Adi Botea: HPA* (Hierarchical Pathfinding A*), CPD</a:t>
            </a:r>
            <a:endParaRPr lang="en-US" sz="1550" dirty="0"/>
          </a:p>
        </p:txBody>
      </p:sp>
      <p:sp>
        <p:nvSpPr>
          <p:cNvPr id="9" name="Text 7"/>
          <p:cNvSpPr/>
          <p:nvPr/>
        </p:nvSpPr>
        <p:spPr>
          <a:xfrm>
            <a:off x="1015008" y="5033605"/>
            <a:ext cx="3772853"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Nathan R. Sturtevant: PRA* family algorithms</a:t>
            </a:r>
            <a:endParaRPr lang="en-US" sz="1550" dirty="0"/>
          </a:p>
        </p:txBody>
      </p:sp>
      <p:sp>
        <p:nvSpPr>
          <p:cNvPr id="10" name="Text 8"/>
          <p:cNvSpPr/>
          <p:nvPr/>
        </p:nvSpPr>
        <p:spPr>
          <a:xfrm>
            <a:off x="1015008" y="5738098"/>
            <a:ext cx="3772853"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Daniel Harabor: Polyanya, JPS (Jump Point Search)</a:t>
            </a:r>
            <a:endParaRPr lang="en-US" sz="1550" dirty="0"/>
          </a:p>
        </p:txBody>
      </p:sp>
      <p:sp>
        <p:nvSpPr>
          <p:cNvPr id="11" name="Text 9"/>
          <p:cNvSpPr/>
          <p:nvPr/>
        </p:nvSpPr>
        <p:spPr>
          <a:xfrm>
            <a:off x="1015008" y="6442591"/>
            <a:ext cx="377285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Sven Koenig: Various contributions</a:t>
            </a:r>
            <a:endParaRPr lang="en-US" sz="1550" dirty="0"/>
          </a:p>
        </p:txBody>
      </p:sp>
      <p:sp>
        <p:nvSpPr>
          <p:cNvPr id="29" name="对话气泡: 圆角矩形 28">
            <a:extLst>
              <a:ext uri="{FF2B5EF4-FFF2-40B4-BE49-F238E27FC236}">
                <a16:creationId xmlns:a16="http://schemas.microsoft.com/office/drawing/2014/main" id="{4C087F98-10AD-4FDD-89FC-E4EB99137CAF}"/>
              </a:ext>
            </a:extLst>
          </p:cNvPr>
          <p:cNvSpPr/>
          <p:nvPr/>
        </p:nvSpPr>
        <p:spPr>
          <a:xfrm>
            <a:off x="5532912" y="1493639"/>
            <a:ext cx="3559493" cy="1943040"/>
          </a:xfrm>
          <a:prstGeom prst="wedgeRoundRectCallout">
            <a:avLst>
              <a:gd name="adj1" fmla="val -72460"/>
              <a:gd name="adj2" fmla="val 44345"/>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descr="《星际争霸2 虚空之遗》官方CG视频+GIF欣赏 - 特效作品交流 - Powered by Discuz!">
            <a:extLst>
              <a:ext uri="{FF2B5EF4-FFF2-40B4-BE49-F238E27FC236}">
                <a16:creationId xmlns:a16="http://schemas.microsoft.com/office/drawing/2014/main" id="{F54487B1-5AE4-4EBE-A200-35AACF432257}"/>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753633" y="1604804"/>
            <a:ext cx="3118050" cy="1755129"/>
          </a:xfrm>
          <a:prstGeom prst="rect">
            <a:avLst/>
          </a:prstGeom>
          <a:noFill/>
          <a:extLst>
            <a:ext uri="{909E8E84-426E-40DD-AFC4-6F175D3DCCD1}">
              <a14:hiddenFill xmlns:a14="http://schemas.microsoft.com/office/drawing/2010/main">
                <a:solidFill>
                  <a:srgbClr val="FFFFFF"/>
                </a:solidFill>
              </a14:hiddenFill>
            </a:ext>
          </a:extLst>
        </p:spPr>
      </p:pic>
      <p:sp>
        <p:nvSpPr>
          <p:cNvPr id="30" name="箭头: 右 29">
            <a:extLst>
              <a:ext uri="{FF2B5EF4-FFF2-40B4-BE49-F238E27FC236}">
                <a16:creationId xmlns:a16="http://schemas.microsoft.com/office/drawing/2014/main" id="{44285E8C-2714-44D8-9436-85D3BAB16847}"/>
              </a:ext>
            </a:extLst>
          </p:cNvPr>
          <p:cNvSpPr/>
          <p:nvPr/>
        </p:nvSpPr>
        <p:spPr>
          <a:xfrm>
            <a:off x="4582159" y="5136912"/>
            <a:ext cx="1901507" cy="914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C702753B-ADA7-4AAE-B47E-6D48B78620EE}"/>
              </a:ext>
            </a:extLst>
          </p:cNvPr>
          <p:cNvSpPr/>
          <p:nvPr/>
        </p:nvSpPr>
        <p:spPr>
          <a:xfrm>
            <a:off x="6445603" y="3499445"/>
            <a:ext cx="8283678" cy="3139321"/>
          </a:xfrm>
          <a:prstGeom prst="rect">
            <a:avLst/>
          </a:prstGeom>
        </p:spPr>
        <p:txBody>
          <a:bodyPr wrap="none">
            <a:spAutoFit/>
          </a:bodyPr>
          <a:lstStyle/>
          <a:p>
            <a:r>
              <a:rPr lang="zh-CN" altLang="en-US" dirty="0">
                <a:solidFill>
                  <a:schemeClr val="bg1"/>
                </a:solidFill>
              </a:rPr>
              <a:t>Personal homepage：</a:t>
            </a:r>
            <a:r>
              <a:rPr lang="en-US" altLang="zh-CN" dirty="0">
                <a:hlinkClick r:id="rId4"/>
              </a:rPr>
              <a:t> </a:t>
            </a:r>
            <a:r>
              <a:rPr lang="en-US" altLang="zh-CN" dirty="0">
                <a:solidFill>
                  <a:schemeClr val="bg1"/>
                </a:solidFill>
                <a:hlinkClick r:id="rId4">
                  <a:extLst>
                    <a:ext uri="{A12FA001-AC4F-418D-AE19-62706E023703}">
                      <ahyp:hlinkClr xmlns:ahyp="http://schemas.microsoft.com/office/drawing/2018/hyperlinkcolor" val="tx"/>
                    </a:ext>
                  </a:extLst>
                </a:hlinkClick>
              </a:rPr>
              <a:t>Moving AI Lab</a:t>
            </a:r>
            <a:endParaRPr lang="en-US" altLang="zh-CN" dirty="0">
              <a:solidFill>
                <a:schemeClr val="bg1"/>
              </a:solidFill>
            </a:endParaRPr>
          </a:p>
          <a:p>
            <a:endParaRPr lang="en-US" altLang="zh-CN" dirty="0">
              <a:solidFill>
                <a:schemeClr val="bg1"/>
              </a:solidFill>
            </a:endParaRPr>
          </a:p>
          <a:p>
            <a:r>
              <a:rPr lang="en-US" altLang="zh-CN" dirty="0">
                <a:solidFill>
                  <a:schemeClr val="bg1"/>
                </a:solidFill>
              </a:rPr>
              <a:t>Broad resources of community interest: </a:t>
            </a:r>
            <a:r>
              <a:rPr lang="en-US" altLang="zh-CN" dirty="0">
                <a:solidFill>
                  <a:schemeClr val="bg1"/>
                </a:solidFill>
                <a:hlinkClick r:id="rId5">
                  <a:extLst>
                    <a:ext uri="{A12FA001-AC4F-418D-AE19-62706E023703}">
                      <ahyp:hlinkClr xmlns:ahyp="http://schemas.microsoft.com/office/drawing/2018/hyperlinkcolor" val="tx"/>
                    </a:ext>
                  </a:extLst>
                </a:hlinkClick>
              </a:rPr>
              <a:t>Benchmark problems</a:t>
            </a:r>
            <a:r>
              <a:rPr lang="en-US" altLang="zh-CN" dirty="0">
                <a:solidFill>
                  <a:schemeClr val="bg1"/>
                </a:solidFill>
              </a:rPr>
              <a:t> for:</a:t>
            </a:r>
          </a:p>
          <a:p>
            <a:pPr marL="285750" lvl="1" indent="-285750">
              <a:buFont typeface="Arial" panose="020B0604020202020204" pitchFamily="34" charset="0"/>
              <a:buChar char="•"/>
            </a:pPr>
            <a:r>
              <a:rPr lang="en-US" altLang="zh-CN" dirty="0">
                <a:solidFill>
                  <a:schemeClr val="bg1"/>
                </a:solidFill>
                <a:hlinkClick r:id="rId6">
                  <a:extLst>
                    <a:ext uri="{A12FA001-AC4F-418D-AE19-62706E023703}">
                      <ahyp:hlinkClr xmlns:ahyp="http://schemas.microsoft.com/office/drawing/2018/hyperlinkcolor" val="tx"/>
                    </a:ext>
                  </a:extLst>
                </a:hlinkClick>
              </a:rPr>
              <a:t>2D grids</a:t>
            </a:r>
            <a:endParaRPr lang="en-US" altLang="zh-CN" dirty="0">
              <a:solidFill>
                <a:schemeClr val="bg1"/>
              </a:solidFill>
            </a:endParaRPr>
          </a:p>
          <a:p>
            <a:pPr marL="285750" lvl="1" indent="-285750">
              <a:buFont typeface="Arial" panose="020B0604020202020204" pitchFamily="34" charset="0"/>
              <a:buChar char="•"/>
            </a:pPr>
            <a:r>
              <a:rPr lang="en-US" altLang="zh-CN" dirty="0">
                <a:solidFill>
                  <a:schemeClr val="bg1"/>
                </a:solidFill>
                <a:hlinkClick r:id="rId7">
                  <a:extLst>
                    <a:ext uri="{A12FA001-AC4F-418D-AE19-62706E023703}">
                      <ahyp:hlinkClr xmlns:ahyp="http://schemas.microsoft.com/office/drawing/2018/hyperlinkcolor" val="tx"/>
                    </a:ext>
                  </a:extLst>
                </a:hlinkClick>
              </a:rPr>
              <a:t>Voxel grids</a:t>
            </a:r>
            <a:endParaRPr lang="en-US" altLang="zh-CN" dirty="0">
              <a:solidFill>
                <a:schemeClr val="bg1"/>
              </a:solidFill>
            </a:endParaRPr>
          </a:p>
          <a:p>
            <a:pPr marL="285750" lvl="1" indent="-285750">
              <a:buFont typeface="Arial" panose="020B0604020202020204" pitchFamily="34" charset="0"/>
              <a:buChar char="•"/>
            </a:pPr>
            <a:r>
              <a:rPr lang="en-US" altLang="zh-CN" dirty="0">
                <a:solidFill>
                  <a:schemeClr val="bg1"/>
                </a:solidFill>
                <a:hlinkClick r:id="rId8">
                  <a:extLst>
                    <a:ext uri="{A12FA001-AC4F-418D-AE19-62706E023703}">
                      <ahyp:hlinkClr xmlns:ahyp="http://schemas.microsoft.com/office/drawing/2018/hyperlinkcolor" val="tx"/>
                    </a:ext>
                  </a:extLst>
                </a:hlinkClick>
              </a:rPr>
              <a:t>Multi-agent Path Planning (MAPF)</a:t>
            </a:r>
            <a:endParaRPr lang="en-US" altLang="zh-CN" dirty="0">
              <a:solidFill>
                <a:schemeClr val="bg1"/>
              </a:solidFill>
            </a:endParaRPr>
          </a:p>
          <a:p>
            <a:pPr marL="285750" indent="-285750">
              <a:buFont typeface="Arial" panose="020B0604020202020204" pitchFamily="34" charset="0"/>
              <a:buChar char="•"/>
            </a:pPr>
            <a:r>
              <a:rPr lang="en-US" altLang="zh-CN" dirty="0">
                <a:solidFill>
                  <a:schemeClr val="bg1"/>
                </a:solidFill>
              </a:rPr>
              <a:t>Historical </a:t>
            </a:r>
            <a:r>
              <a:rPr lang="en-US" altLang="zh-CN" dirty="0">
                <a:solidFill>
                  <a:schemeClr val="bg1"/>
                </a:solidFill>
                <a:hlinkClick r:id="rId9">
                  <a:extLst>
                    <a:ext uri="{A12FA001-AC4F-418D-AE19-62706E023703}">
                      <ahyp:hlinkClr xmlns:ahyp="http://schemas.microsoft.com/office/drawing/2018/hyperlinkcolor" val="tx"/>
                    </a:ext>
                  </a:extLst>
                </a:hlinkClick>
              </a:rPr>
              <a:t>Grid-Based Path Planning Competition</a:t>
            </a:r>
            <a:r>
              <a:rPr lang="en-US" altLang="zh-CN" dirty="0">
                <a:solidFill>
                  <a:schemeClr val="bg1"/>
                </a:solidFill>
              </a:rPr>
              <a:t> data</a:t>
            </a:r>
            <a:r>
              <a:rPr lang="zh-CN" altLang="en-US" dirty="0">
                <a:solidFill>
                  <a:schemeClr val="bg1"/>
                </a:solidFill>
              </a:rPr>
              <a:t>。</a:t>
            </a:r>
            <a:endParaRPr lang="en-US" altLang="zh-CN" dirty="0">
              <a:solidFill>
                <a:schemeClr val="bg1"/>
              </a:solidFill>
            </a:endParaRPr>
          </a:p>
          <a:p>
            <a:pPr marL="285750" indent="-285750">
              <a:buFont typeface="Arial" panose="020B0604020202020204" pitchFamily="34" charset="0"/>
              <a:buChar char="•"/>
            </a:pPr>
            <a:r>
              <a:rPr lang="en-US" altLang="zh-CN" dirty="0">
                <a:solidFill>
                  <a:schemeClr val="bg1"/>
                </a:solidFill>
                <a:hlinkClick r:id="rId10">
                  <a:extLst>
                    <a:ext uri="{A12FA001-AC4F-418D-AE19-62706E023703}">
                      <ahyp:hlinkClr xmlns:ahyp="http://schemas.microsoft.com/office/drawing/2018/hyperlinkcolor" val="tx"/>
                    </a:ext>
                  </a:extLst>
                </a:hlinkClick>
              </a:rPr>
              <a:t>Interactive heuristic search demos</a:t>
            </a:r>
            <a:r>
              <a:rPr lang="en-US" altLang="zh-CN" dirty="0">
                <a:solidFill>
                  <a:schemeClr val="bg1"/>
                </a:solidFill>
              </a:rPr>
              <a:t>. These cover many basic and advanced heuristic </a:t>
            </a:r>
          </a:p>
          <a:p>
            <a:pPr marL="285750" indent="-285750">
              <a:buFont typeface="Arial" panose="020B0604020202020204" pitchFamily="34" charset="0"/>
              <a:buChar char="•"/>
            </a:pPr>
            <a:r>
              <a:rPr lang="en-US" altLang="zh-CN" dirty="0">
                <a:solidFill>
                  <a:schemeClr val="bg1"/>
                </a:solidFill>
              </a:rPr>
              <a:t>search algorithms. These demos and other research is implemented in the </a:t>
            </a:r>
            <a:r>
              <a:rPr lang="en-US" altLang="zh-CN" dirty="0">
                <a:solidFill>
                  <a:schemeClr val="bg1"/>
                </a:solidFill>
                <a:hlinkClick r:id="rId11">
                  <a:extLst>
                    <a:ext uri="{A12FA001-AC4F-418D-AE19-62706E023703}">
                      <ahyp:hlinkClr xmlns:ahyp="http://schemas.microsoft.com/office/drawing/2018/hyperlinkcolor" val="tx"/>
                    </a:ext>
                  </a:extLst>
                </a:hlinkClick>
              </a:rPr>
              <a:t>HOG2</a:t>
            </a:r>
            <a:r>
              <a:rPr lang="en-US" altLang="zh-CN" dirty="0">
                <a:solidFill>
                  <a:schemeClr val="bg1"/>
                </a:solidFill>
              </a:rPr>
              <a:t> </a:t>
            </a:r>
          </a:p>
          <a:p>
            <a:pPr marL="285750" indent="-285750">
              <a:buFont typeface="Arial" panose="020B0604020202020204" pitchFamily="34" charset="0"/>
              <a:buChar char="•"/>
            </a:pPr>
            <a:r>
              <a:rPr lang="en-US" altLang="zh-CN" dirty="0">
                <a:solidFill>
                  <a:schemeClr val="bg1"/>
                </a:solidFill>
              </a:rPr>
              <a:t>platform.</a:t>
            </a:r>
          </a:p>
          <a:p>
            <a:pPr marL="285750" indent="-285750">
              <a:buFont typeface="Arial" panose="020B0604020202020204" pitchFamily="34" charset="0"/>
              <a:buChar char="•"/>
            </a:pPr>
            <a:r>
              <a:rPr lang="en-US" altLang="zh-CN" dirty="0">
                <a:solidFill>
                  <a:schemeClr val="bg1"/>
                </a:solidFill>
              </a:rPr>
              <a:t>Graduate lectures on </a:t>
            </a:r>
            <a:r>
              <a:rPr lang="en-US" altLang="zh-CN" dirty="0">
                <a:solidFill>
                  <a:schemeClr val="bg1"/>
                </a:solidFill>
                <a:hlinkClick r:id="rId12">
                  <a:extLst>
                    <a:ext uri="{A12FA001-AC4F-418D-AE19-62706E023703}">
                      <ahyp:hlinkClr xmlns:ahyp="http://schemas.microsoft.com/office/drawing/2018/hyperlinkcolor" val="tx"/>
                    </a:ext>
                  </a:extLst>
                </a:hlinkClick>
              </a:rPr>
              <a:t>Single Agent Search</a:t>
            </a:r>
            <a:endParaRPr lang="en-US" altLang="zh-CN" dirty="0">
              <a:solidFill>
                <a:schemeClr val="bg1"/>
              </a:solidFill>
            </a:endParaRPr>
          </a:p>
        </p:txBody>
      </p:sp>
      <p:sp>
        <p:nvSpPr>
          <p:cNvPr id="32" name="矩形 31">
            <a:extLst>
              <a:ext uri="{FF2B5EF4-FFF2-40B4-BE49-F238E27FC236}">
                <a16:creationId xmlns:a16="http://schemas.microsoft.com/office/drawing/2014/main" id="{6F904B8D-B901-43E2-B4F2-391BCD324CCF}"/>
              </a:ext>
            </a:extLst>
          </p:cNvPr>
          <p:cNvSpPr/>
          <p:nvPr/>
        </p:nvSpPr>
        <p:spPr>
          <a:xfrm>
            <a:off x="1199078" y="7169417"/>
            <a:ext cx="12516921" cy="714298"/>
          </a:xfrm>
          <a:prstGeom prst="rect">
            <a:avLst/>
          </a:prstGeom>
        </p:spPr>
        <p:txBody>
          <a:bodyPr wrap="square">
            <a:spAutoFit/>
          </a:bodyPr>
          <a:lstStyle/>
          <a:p>
            <a:pPr>
              <a:lnSpc>
                <a:spcPts val="2500"/>
              </a:lnSpc>
            </a:pPr>
            <a:r>
              <a:rPr lang="zh-CN" altLang="en-US" sz="1550" dirty="0">
                <a:solidFill>
                  <a:srgbClr val="E5E0DF"/>
                </a:solidFill>
                <a:latin typeface="Inter" pitchFamily="34" charset="0"/>
                <a:ea typeface="Inter" pitchFamily="34" charset="-122"/>
              </a:rPr>
              <a:t>After more than 20 years of continuous excavation, this research direction has been done very deeply, and the work in this direction requires strong mathematical theoretical skills, and there is little room for academic progress.</a:t>
            </a:r>
          </a:p>
        </p:txBody>
      </p:sp>
    </p:spTree>
    <p:extLst>
      <p:ext uri="{BB962C8B-B14F-4D97-AF65-F5344CB8AC3E}">
        <p14:creationId xmlns:p14="http://schemas.microsoft.com/office/powerpoint/2010/main" val="3162455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07350"/>
            <a:ext cx="11987451"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Research Landscape: Key Players and Milestones</a:t>
            </a:r>
            <a:endParaRPr lang="en-US" sz="3900" dirty="0"/>
          </a:p>
        </p:txBody>
      </p:sp>
      <p:grpSp>
        <p:nvGrpSpPr>
          <p:cNvPr id="32" name="组合 31">
            <a:extLst>
              <a:ext uri="{FF2B5EF4-FFF2-40B4-BE49-F238E27FC236}">
                <a16:creationId xmlns:a16="http://schemas.microsoft.com/office/drawing/2014/main" id="{9E15F94C-F1F9-4E62-8920-607BFE99AAE4}"/>
              </a:ext>
            </a:extLst>
          </p:cNvPr>
          <p:cNvGrpSpPr/>
          <p:nvPr/>
        </p:nvGrpSpPr>
        <p:grpSpPr>
          <a:xfrm>
            <a:off x="998355" y="1789748"/>
            <a:ext cx="4215408" cy="4338756"/>
            <a:chOff x="5207437" y="1724263"/>
            <a:chExt cx="4215408" cy="4338756"/>
          </a:xfrm>
        </p:grpSpPr>
        <p:sp>
          <p:nvSpPr>
            <p:cNvPr id="12" name="Shape 10"/>
            <p:cNvSpPr/>
            <p:nvPr/>
          </p:nvSpPr>
          <p:spPr>
            <a:xfrm>
              <a:off x="5207437" y="1999059"/>
              <a:ext cx="4215408" cy="91440"/>
            </a:xfrm>
            <a:prstGeom prst="roundRect">
              <a:avLst>
                <a:gd name="adj" fmla="val 91163"/>
              </a:avLst>
            </a:prstGeom>
            <a:solidFill>
              <a:srgbClr val="2B0AFF"/>
            </a:solidFill>
            <a:ln/>
          </p:spPr>
        </p:sp>
        <p:sp>
          <p:nvSpPr>
            <p:cNvPr id="13" name="Shape 11"/>
            <p:cNvSpPr/>
            <p:nvPr/>
          </p:nvSpPr>
          <p:spPr>
            <a:xfrm>
              <a:off x="7017425" y="1724263"/>
              <a:ext cx="595313" cy="595313"/>
            </a:xfrm>
            <a:prstGeom prst="roundRect">
              <a:avLst>
                <a:gd name="adj" fmla="val 153600"/>
              </a:avLst>
            </a:prstGeom>
            <a:solidFill>
              <a:srgbClr val="2B0AFF"/>
            </a:solidFill>
            <a:ln/>
          </p:spPr>
        </p:sp>
        <p:sp>
          <p:nvSpPr>
            <p:cNvPr id="14" name="Text 12"/>
            <p:cNvSpPr/>
            <p:nvPr/>
          </p:nvSpPr>
          <p:spPr>
            <a:xfrm>
              <a:off x="7196018" y="1873091"/>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Inter Bold" pitchFamily="34" charset="0"/>
                  <a:ea typeface="Inter Bold" pitchFamily="34" charset="-122"/>
                  <a:cs typeface="Inter Bold" pitchFamily="34" charset="-120"/>
                </a:rPr>
                <a:t>2</a:t>
              </a:r>
              <a:endParaRPr lang="en-US" sz="1850" dirty="0"/>
            </a:p>
          </p:txBody>
        </p:sp>
        <p:sp>
          <p:nvSpPr>
            <p:cNvPr id="15" name="Text 13"/>
            <p:cNvSpPr/>
            <p:nvPr/>
          </p:nvSpPr>
          <p:spPr>
            <a:xfrm>
              <a:off x="5428655" y="251805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Robotics Specialists</a:t>
              </a:r>
              <a:endParaRPr lang="en-US" sz="1950" dirty="0"/>
            </a:p>
          </p:txBody>
        </p:sp>
        <p:sp>
          <p:nvSpPr>
            <p:cNvPr id="16" name="Text 14"/>
            <p:cNvSpPr/>
            <p:nvPr/>
          </p:nvSpPr>
          <p:spPr>
            <a:xfrm>
              <a:off x="5428655" y="2947273"/>
              <a:ext cx="3772972"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Adapting pathfinding algorithms for real-world robotic applications with unique constraints.</a:t>
              </a:r>
              <a:endParaRPr lang="en-US" sz="1550" dirty="0"/>
            </a:p>
          </p:txBody>
        </p:sp>
        <p:sp>
          <p:nvSpPr>
            <p:cNvPr id="17" name="Text 15"/>
            <p:cNvSpPr/>
            <p:nvPr/>
          </p:nvSpPr>
          <p:spPr>
            <a:xfrm>
              <a:off x="5428655" y="4018955"/>
              <a:ext cx="3772972"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Maxim Likhachev: MRA (Multi-Resolution A*), AMRA</a:t>
              </a:r>
              <a:endParaRPr lang="en-US" sz="1550" dirty="0"/>
            </a:p>
          </p:txBody>
        </p:sp>
        <p:sp>
          <p:nvSpPr>
            <p:cNvPr id="18" name="Text 16"/>
            <p:cNvSpPr/>
            <p:nvPr/>
          </p:nvSpPr>
          <p:spPr>
            <a:xfrm>
              <a:off x="5428655" y="4723448"/>
              <a:ext cx="3772972"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Specialized implementations: CFA* (Cooperative FA*)</a:t>
              </a:r>
              <a:endParaRPr lang="en-US" sz="1550" dirty="0"/>
            </a:p>
          </p:txBody>
        </p:sp>
        <p:sp>
          <p:nvSpPr>
            <p:cNvPr id="19" name="Text 17"/>
            <p:cNvSpPr/>
            <p:nvPr/>
          </p:nvSpPr>
          <p:spPr>
            <a:xfrm>
              <a:off x="5428655" y="5427940"/>
              <a:ext cx="3772972"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WaveStar: Wave propagation techniques</a:t>
              </a:r>
              <a:endParaRPr lang="en-US" sz="1550" dirty="0"/>
            </a:p>
          </p:txBody>
        </p:sp>
      </p:grpSp>
      <p:grpSp>
        <p:nvGrpSpPr>
          <p:cNvPr id="34" name="组合 33">
            <a:extLst>
              <a:ext uri="{FF2B5EF4-FFF2-40B4-BE49-F238E27FC236}">
                <a16:creationId xmlns:a16="http://schemas.microsoft.com/office/drawing/2014/main" id="{BCAC9106-C445-40F2-9163-C17F4BC947D1}"/>
              </a:ext>
            </a:extLst>
          </p:cNvPr>
          <p:cNvGrpSpPr/>
          <p:nvPr/>
        </p:nvGrpSpPr>
        <p:grpSpPr>
          <a:xfrm>
            <a:off x="7826654" y="2216978"/>
            <a:ext cx="6608537" cy="2677656"/>
            <a:chOff x="5032654" y="1457677"/>
            <a:chExt cx="9699545" cy="2677656"/>
          </a:xfrm>
        </p:grpSpPr>
        <p:sp>
          <p:nvSpPr>
            <p:cNvPr id="30" name="矩形 29">
              <a:extLst>
                <a:ext uri="{FF2B5EF4-FFF2-40B4-BE49-F238E27FC236}">
                  <a16:creationId xmlns:a16="http://schemas.microsoft.com/office/drawing/2014/main" id="{376D9A75-48B9-4A7D-9529-5BB191617414}"/>
                </a:ext>
              </a:extLst>
            </p:cNvPr>
            <p:cNvSpPr/>
            <p:nvPr/>
          </p:nvSpPr>
          <p:spPr>
            <a:xfrm>
              <a:off x="5032654" y="1457677"/>
              <a:ext cx="5864528" cy="369332"/>
            </a:xfrm>
            <a:prstGeom prst="rect">
              <a:avLst/>
            </a:prstGeom>
          </p:spPr>
          <p:txBody>
            <a:bodyPr wrap="none">
              <a:spAutoFit/>
            </a:bodyPr>
            <a:lstStyle/>
            <a:p>
              <a:r>
                <a:rPr lang="zh-CN" altLang="en-US" dirty="0">
                  <a:solidFill>
                    <a:schemeClr val="bg1"/>
                  </a:solidFill>
                </a:rPr>
                <a:t>Personal homepage：</a:t>
              </a:r>
              <a:r>
                <a:rPr lang="en-US" altLang="zh-CN" dirty="0"/>
                <a:t> </a:t>
              </a:r>
              <a:r>
                <a:rPr lang="en-US" altLang="zh-CN" dirty="0">
                  <a:hlinkClick r:id="rId3"/>
                </a:rPr>
                <a:t>Maxim  </a:t>
              </a:r>
              <a:r>
                <a:rPr lang="en-US" altLang="zh-CN" dirty="0" err="1">
                  <a:hlinkClick r:id="rId3"/>
                </a:rPr>
                <a:t>Likhachev</a:t>
              </a:r>
              <a:endParaRPr lang="zh-CN" altLang="en-US" dirty="0"/>
            </a:p>
          </p:txBody>
        </p:sp>
        <p:sp>
          <p:nvSpPr>
            <p:cNvPr id="31" name="矩形 30">
              <a:extLst>
                <a:ext uri="{FF2B5EF4-FFF2-40B4-BE49-F238E27FC236}">
                  <a16:creationId xmlns:a16="http://schemas.microsoft.com/office/drawing/2014/main" id="{D344CC92-261B-4207-B180-F76CD2B7CAC6}"/>
                </a:ext>
              </a:extLst>
            </p:cNvPr>
            <p:cNvSpPr/>
            <p:nvPr/>
          </p:nvSpPr>
          <p:spPr>
            <a:xfrm>
              <a:off x="5032654" y="1827009"/>
              <a:ext cx="9699545" cy="2308324"/>
            </a:xfrm>
            <a:prstGeom prst="rect">
              <a:avLst/>
            </a:prstGeom>
          </p:spPr>
          <p:txBody>
            <a:bodyPr wrap="square">
              <a:spAutoFit/>
            </a:bodyPr>
            <a:lstStyle/>
            <a:p>
              <a:pPr fontAlgn="base"/>
              <a:r>
                <a:rPr lang="en-US" altLang="zh-CN" sz="1550" dirty="0">
                  <a:solidFill>
                    <a:schemeClr val="bg1"/>
                  </a:solidFill>
                </a:rPr>
                <a:t>Core Research Focus Areas​​</a:t>
              </a:r>
            </a:p>
            <a:p>
              <a:pPr fontAlgn="base"/>
              <a:r>
                <a:rPr lang="en-US" altLang="zh-CN" sz="1550" dirty="0">
                  <a:solidFill>
                    <a:schemeClr val="bg1"/>
                  </a:solidFill>
                </a:rPr>
                <a:t>​​Real-Time High-Dimensional Planning​​</a:t>
              </a:r>
            </a:p>
            <a:p>
              <a:pPr lvl="1" fontAlgn="base"/>
              <a:r>
                <a:rPr lang="en-US" altLang="zh-CN" sz="1550" dirty="0">
                  <a:solidFill>
                    <a:schemeClr val="bg1"/>
                  </a:solidFill>
                </a:rPr>
                <a:t>Novel graph search algorithms for complex state spaces.</a:t>
              </a:r>
            </a:p>
            <a:p>
              <a:pPr fontAlgn="base"/>
              <a:r>
                <a:rPr lang="en-US" altLang="zh-CN" sz="1550" dirty="0">
                  <a:solidFill>
                    <a:schemeClr val="bg1"/>
                  </a:solidFill>
                </a:rPr>
                <a:t>​​Learning for Planning Efficiency​​</a:t>
              </a:r>
            </a:p>
            <a:p>
              <a:pPr lvl="1" fontAlgn="base"/>
              <a:r>
                <a:rPr lang="en-US" altLang="zh-CN" sz="1550" dirty="0">
                  <a:solidFill>
                    <a:schemeClr val="bg1"/>
                  </a:solidFill>
                </a:rPr>
                <a:t>Algorithms that "learn how to plan" using experience.</a:t>
              </a:r>
            </a:p>
            <a:p>
              <a:pPr fontAlgn="base"/>
              <a:r>
                <a:rPr lang="en-US" altLang="zh-CN" sz="1550" dirty="0">
                  <a:solidFill>
                    <a:schemeClr val="bg1"/>
                  </a:solidFill>
                </a:rPr>
                <a:t>​​Compact Representation Learning​​</a:t>
              </a:r>
            </a:p>
            <a:p>
              <a:pPr lvl="1" fontAlgn="base"/>
              <a:r>
                <a:rPr lang="en-US" altLang="zh-CN" sz="1550" dirty="0">
                  <a:solidFill>
                    <a:schemeClr val="bg1"/>
                  </a:solidFill>
                </a:rPr>
                <a:t>Automated abstraction of planning problems.</a:t>
              </a:r>
            </a:p>
            <a:p>
              <a:pPr fontAlgn="base"/>
              <a:r>
                <a:rPr lang="en-US" altLang="zh-CN" sz="1550" dirty="0">
                  <a:solidFill>
                    <a:schemeClr val="bg1"/>
                  </a:solidFill>
                </a:rPr>
                <a:t>​​Theoretically-Guaranteed Planning​​</a:t>
              </a:r>
            </a:p>
            <a:p>
              <a:pPr lvl="1" fontAlgn="base"/>
              <a:r>
                <a:rPr lang="en-US" altLang="zh-CN" sz="1550" dirty="0">
                  <a:solidFill>
                    <a:schemeClr val="bg1"/>
                  </a:solidFill>
                </a:rPr>
                <a:t>Rigorous frameworks for real-world robotics.</a:t>
              </a:r>
            </a:p>
          </p:txBody>
        </p:sp>
      </p:grpSp>
      <p:sp>
        <p:nvSpPr>
          <p:cNvPr id="33" name="矩形 32">
            <a:extLst>
              <a:ext uri="{FF2B5EF4-FFF2-40B4-BE49-F238E27FC236}">
                <a16:creationId xmlns:a16="http://schemas.microsoft.com/office/drawing/2014/main" id="{8D626EE8-6759-4D25-B124-23C2B00A1399}"/>
              </a:ext>
            </a:extLst>
          </p:cNvPr>
          <p:cNvSpPr/>
          <p:nvPr/>
        </p:nvSpPr>
        <p:spPr>
          <a:xfrm>
            <a:off x="1199078" y="7169417"/>
            <a:ext cx="12516921" cy="714298"/>
          </a:xfrm>
          <a:prstGeom prst="rect">
            <a:avLst/>
          </a:prstGeom>
        </p:spPr>
        <p:txBody>
          <a:bodyPr wrap="square">
            <a:spAutoFit/>
          </a:bodyPr>
          <a:lstStyle/>
          <a:p>
            <a:pPr>
              <a:lnSpc>
                <a:spcPts val="2500"/>
              </a:lnSpc>
            </a:pPr>
            <a:r>
              <a:rPr lang="en-US" altLang="zh-CN" sz="1550" dirty="0">
                <a:solidFill>
                  <a:srgbClr val="E5E0DF"/>
                </a:solidFill>
                <a:latin typeface="Inter" pitchFamily="34" charset="0"/>
                <a:ea typeface="Inter" pitchFamily="34" charset="-122"/>
              </a:rPr>
              <a:t>Compared with the previous research direction, the research difficulty of this direction is slightly lower, but it still requires rigorous mathematical theoretical argumentation</a:t>
            </a:r>
            <a:r>
              <a:rPr lang="zh-CN" altLang="en-US" sz="1550" dirty="0">
                <a:solidFill>
                  <a:srgbClr val="E5E0DF"/>
                </a:solidFill>
                <a:latin typeface="Inter" pitchFamily="34" charset="0"/>
                <a:ea typeface="Inter" pitchFamily="34" charset="-122"/>
              </a:rPr>
              <a:t>。</a:t>
            </a:r>
          </a:p>
        </p:txBody>
      </p:sp>
      <p:sp>
        <p:nvSpPr>
          <p:cNvPr id="35" name="箭头: 右 34">
            <a:extLst>
              <a:ext uri="{FF2B5EF4-FFF2-40B4-BE49-F238E27FC236}">
                <a16:creationId xmlns:a16="http://schemas.microsoft.com/office/drawing/2014/main" id="{E6F23C68-BFC3-4BF7-9A05-3E110ACFEACF}"/>
              </a:ext>
            </a:extLst>
          </p:cNvPr>
          <p:cNvSpPr/>
          <p:nvPr/>
        </p:nvSpPr>
        <p:spPr>
          <a:xfrm>
            <a:off x="5324475" y="3634199"/>
            <a:ext cx="2502179" cy="914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49106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07350"/>
            <a:ext cx="11987451"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Research Landscape: Key Players and Milestones</a:t>
            </a:r>
            <a:endParaRPr lang="en-US" sz="3900" dirty="0"/>
          </a:p>
        </p:txBody>
      </p:sp>
      <p:grpSp>
        <p:nvGrpSpPr>
          <p:cNvPr id="29" name="组合 28">
            <a:extLst>
              <a:ext uri="{FF2B5EF4-FFF2-40B4-BE49-F238E27FC236}">
                <a16:creationId xmlns:a16="http://schemas.microsoft.com/office/drawing/2014/main" id="{E94DC386-0FB8-4781-B7CB-8FB1FA3CDEE5}"/>
              </a:ext>
            </a:extLst>
          </p:cNvPr>
          <p:cNvGrpSpPr/>
          <p:nvPr/>
        </p:nvGrpSpPr>
        <p:grpSpPr>
          <a:xfrm>
            <a:off x="1199078" y="2445543"/>
            <a:ext cx="4215289" cy="3378756"/>
            <a:chOff x="9621203" y="1724263"/>
            <a:chExt cx="4215289" cy="3378756"/>
          </a:xfrm>
        </p:grpSpPr>
        <p:sp>
          <p:nvSpPr>
            <p:cNvPr id="20" name="Shape 18"/>
            <p:cNvSpPr/>
            <p:nvPr/>
          </p:nvSpPr>
          <p:spPr>
            <a:xfrm>
              <a:off x="9621203" y="1999059"/>
              <a:ext cx="4215289" cy="91440"/>
            </a:xfrm>
            <a:prstGeom prst="roundRect">
              <a:avLst>
                <a:gd name="adj" fmla="val 91163"/>
              </a:avLst>
            </a:prstGeom>
            <a:solidFill>
              <a:srgbClr val="2B0AFF"/>
            </a:solidFill>
            <a:ln/>
          </p:spPr>
        </p:sp>
        <p:sp>
          <p:nvSpPr>
            <p:cNvPr id="21" name="Shape 19"/>
            <p:cNvSpPr/>
            <p:nvPr/>
          </p:nvSpPr>
          <p:spPr>
            <a:xfrm>
              <a:off x="11431191" y="1724263"/>
              <a:ext cx="595313" cy="595313"/>
            </a:xfrm>
            <a:prstGeom prst="roundRect">
              <a:avLst>
                <a:gd name="adj" fmla="val 153600"/>
              </a:avLst>
            </a:prstGeom>
            <a:solidFill>
              <a:srgbClr val="2B0AFF"/>
            </a:solidFill>
            <a:ln/>
          </p:spPr>
        </p:sp>
        <p:sp>
          <p:nvSpPr>
            <p:cNvPr id="22" name="Text 20"/>
            <p:cNvSpPr/>
            <p:nvPr/>
          </p:nvSpPr>
          <p:spPr>
            <a:xfrm>
              <a:off x="11609784" y="1873091"/>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Inter Bold" pitchFamily="34" charset="0"/>
                  <a:ea typeface="Inter Bold" pitchFamily="34" charset="-122"/>
                  <a:cs typeface="Inter Bold" pitchFamily="34" charset="-120"/>
                </a:rPr>
                <a:t>3</a:t>
              </a:r>
              <a:endParaRPr lang="en-US" sz="1850" dirty="0"/>
            </a:p>
          </p:txBody>
        </p:sp>
        <p:sp>
          <p:nvSpPr>
            <p:cNvPr id="23" name="Text 21"/>
            <p:cNvSpPr/>
            <p:nvPr/>
          </p:nvSpPr>
          <p:spPr>
            <a:xfrm>
              <a:off x="9842421" y="2518053"/>
              <a:ext cx="3772853" cy="620316"/>
            </a:xfrm>
            <a:prstGeom prst="rect">
              <a:avLst/>
            </a:prstGeom>
            <a:noFill/>
            <a:ln/>
          </p:spPr>
          <p:txBody>
            <a:bodyPr wrap="squar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Distributed Computing Researchers</a:t>
              </a:r>
              <a:endParaRPr lang="en-US" sz="1950" dirty="0"/>
            </a:p>
          </p:txBody>
        </p:sp>
        <p:sp>
          <p:nvSpPr>
            <p:cNvPr id="24" name="Text 22"/>
            <p:cNvSpPr/>
            <p:nvPr/>
          </p:nvSpPr>
          <p:spPr>
            <a:xfrm>
              <a:off x="9842421" y="3257431"/>
              <a:ext cx="3772853"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Focusing on parallelization and distribution of pathfinding workloads.</a:t>
              </a:r>
              <a:endParaRPr lang="en-US" sz="1550" dirty="0"/>
            </a:p>
          </p:txBody>
        </p:sp>
        <p:sp>
          <p:nvSpPr>
            <p:cNvPr id="25" name="Text 23"/>
            <p:cNvSpPr/>
            <p:nvPr/>
          </p:nvSpPr>
          <p:spPr>
            <a:xfrm>
              <a:off x="9842421" y="4011573"/>
              <a:ext cx="377285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Map-Reduce A* implementations</a:t>
              </a:r>
              <a:endParaRPr lang="en-US" sz="1550" dirty="0"/>
            </a:p>
          </p:txBody>
        </p:sp>
        <p:sp>
          <p:nvSpPr>
            <p:cNvPr id="26" name="Text 24"/>
            <p:cNvSpPr/>
            <p:nvPr/>
          </p:nvSpPr>
          <p:spPr>
            <a:xfrm>
              <a:off x="9842421" y="4398526"/>
              <a:ext cx="377285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Parallel processing techniques</a:t>
              </a:r>
              <a:endParaRPr lang="en-US" sz="1550" dirty="0"/>
            </a:p>
          </p:txBody>
        </p:sp>
        <p:sp>
          <p:nvSpPr>
            <p:cNvPr id="27" name="Text 25"/>
            <p:cNvSpPr/>
            <p:nvPr/>
          </p:nvSpPr>
          <p:spPr>
            <a:xfrm>
              <a:off x="9842421" y="4785479"/>
              <a:ext cx="3772853"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Cloud-based pathfinding solutions</a:t>
              </a:r>
              <a:endParaRPr lang="en-US" sz="1550" dirty="0"/>
            </a:p>
          </p:txBody>
        </p:sp>
      </p:grpSp>
      <p:sp>
        <p:nvSpPr>
          <p:cNvPr id="30" name="矩形 29">
            <a:extLst>
              <a:ext uri="{FF2B5EF4-FFF2-40B4-BE49-F238E27FC236}">
                <a16:creationId xmlns:a16="http://schemas.microsoft.com/office/drawing/2014/main" id="{2EE59B95-6DBC-4050-8540-491C4BED2B98}"/>
              </a:ext>
            </a:extLst>
          </p:cNvPr>
          <p:cNvSpPr/>
          <p:nvPr/>
        </p:nvSpPr>
        <p:spPr>
          <a:xfrm>
            <a:off x="1199078" y="7169417"/>
            <a:ext cx="12516921" cy="714298"/>
          </a:xfrm>
          <a:prstGeom prst="rect">
            <a:avLst/>
          </a:prstGeom>
        </p:spPr>
        <p:txBody>
          <a:bodyPr wrap="square">
            <a:spAutoFit/>
          </a:bodyPr>
          <a:lstStyle/>
          <a:p>
            <a:pPr>
              <a:lnSpc>
                <a:spcPts val="2500"/>
              </a:lnSpc>
            </a:pPr>
            <a:r>
              <a:rPr lang="en-US" altLang="zh-CN" sz="1550" dirty="0">
                <a:solidFill>
                  <a:srgbClr val="E5E0DF"/>
                </a:solidFill>
                <a:latin typeface="Inter" pitchFamily="34" charset="0"/>
                <a:ea typeface="Inter" pitchFamily="34" charset="-122"/>
              </a:rPr>
              <a:t>This research direction will have higher feasibility in engineering, and the specific parallel structure and solving problems need to be studied in the next step.</a:t>
            </a:r>
            <a:endParaRPr lang="zh-CN" altLang="en-US" sz="1550" dirty="0">
              <a:solidFill>
                <a:srgbClr val="E5E0DF"/>
              </a:solidFill>
              <a:latin typeface="Inter" pitchFamily="34" charset="0"/>
              <a:ea typeface="Inter" pitchFamily="34" charset="-122"/>
            </a:endParaRPr>
          </a:p>
        </p:txBody>
      </p:sp>
    </p:spTree>
    <p:extLst>
      <p:ext uri="{BB962C8B-B14F-4D97-AF65-F5344CB8AC3E}">
        <p14:creationId xmlns:p14="http://schemas.microsoft.com/office/powerpoint/2010/main" val="2524120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6028" y="416600"/>
            <a:ext cx="6845618" cy="473512"/>
          </a:xfrm>
          <a:prstGeom prst="rect">
            <a:avLst/>
          </a:prstGeom>
          <a:noFill/>
          <a:ln/>
        </p:spPr>
        <p:txBody>
          <a:bodyPr wrap="none" lIns="0" tIns="0" rIns="0" bIns="0" rtlCol="0" anchor="t"/>
          <a:lstStyle/>
          <a:p>
            <a:pPr marL="0" indent="0" algn="l">
              <a:lnSpc>
                <a:spcPts val="3700"/>
              </a:lnSpc>
              <a:buNone/>
            </a:pPr>
            <a:r>
              <a:rPr lang="en-US" sz="2950" b="1" dirty="0">
                <a:solidFill>
                  <a:srgbClr val="FFFFFF"/>
                </a:solidFill>
                <a:latin typeface="Inter Bold" pitchFamily="34" charset="0"/>
                <a:ea typeface="Inter Bold" pitchFamily="34" charset="-122"/>
                <a:cs typeface="Inter Bold" pitchFamily="34" charset="-120"/>
              </a:rPr>
              <a:t>Current Benchmarks and Map Scales</a:t>
            </a:r>
            <a:endParaRPr lang="en-US" sz="2950" dirty="0"/>
          </a:p>
        </p:txBody>
      </p:sp>
      <p:sp>
        <p:nvSpPr>
          <p:cNvPr id="3" name="Text 1"/>
          <p:cNvSpPr/>
          <p:nvPr/>
        </p:nvSpPr>
        <p:spPr>
          <a:xfrm>
            <a:off x="606028" y="1268849"/>
            <a:ext cx="2737128" cy="236696"/>
          </a:xfrm>
          <a:prstGeom prst="rect">
            <a:avLst/>
          </a:prstGeom>
          <a:noFill/>
          <a:ln/>
        </p:spPr>
        <p:txBody>
          <a:bodyPr wrap="none" lIns="0" tIns="0" rIns="0" bIns="0" rtlCol="0" anchor="t"/>
          <a:lstStyle/>
          <a:p>
            <a:pPr marL="0" indent="0" algn="l">
              <a:lnSpc>
                <a:spcPts val="1850"/>
              </a:lnSpc>
              <a:buNone/>
            </a:pPr>
            <a:r>
              <a:rPr lang="en-US" sz="1450" b="1" dirty="0">
                <a:solidFill>
                  <a:srgbClr val="FFFFFF"/>
                </a:solidFill>
                <a:latin typeface="Inter Bold" pitchFamily="34" charset="0"/>
                <a:ea typeface="Inter Bold" pitchFamily="34" charset="-122"/>
                <a:cs typeface="Inter Bold" pitchFamily="34" charset="-120"/>
              </a:rPr>
              <a:t>MovingAI Dataset Dominance</a:t>
            </a:r>
            <a:endParaRPr lang="en-US" sz="1450" dirty="0"/>
          </a:p>
        </p:txBody>
      </p:sp>
      <p:grpSp>
        <p:nvGrpSpPr>
          <p:cNvPr id="11" name="组合 10">
            <a:extLst>
              <a:ext uri="{FF2B5EF4-FFF2-40B4-BE49-F238E27FC236}">
                <a16:creationId xmlns:a16="http://schemas.microsoft.com/office/drawing/2014/main" id="{A12C7F31-E38E-48C7-9A41-0069497DDCEC}"/>
              </a:ext>
            </a:extLst>
          </p:cNvPr>
          <p:cNvGrpSpPr/>
          <p:nvPr/>
        </p:nvGrpSpPr>
        <p:grpSpPr>
          <a:xfrm>
            <a:off x="606028" y="1656993"/>
            <a:ext cx="6524387" cy="4886682"/>
            <a:chOff x="606028" y="1656993"/>
            <a:chExt cx="6524387" cy="1590675"/>
          </a:xfrm>
        </p:grpSpPr>
        <p:sp>
          <p:nvSpPr>
            <p:cNvPr id="4" name="Text 2"/>
            <p:cNvSpPr/>
            <p:nvPr/>
          </p:nvSpPr>
          <p:spPr>
            <a:xfrm>
              <a:off x="606028" y="1656993"/>
              <a:ext cx="6524387" cy="674132"/>
            </a:xfrm>
            <a:prstGeom prst="rect">
              <a:avLst/>
            </a:prstGeom>
            <a:noFill/>
            <a:ln/>
          </p:spPr>
          <p:txBody>
            <a:bodyPr wrap="none" lIns="0" tIns="0" rIns="0" bIns="0" rtlCol="0" anchor="t"/>
            <a:lstStyle/>
            <a:p>
              <a:pPr marL="0" indent="0" algn="l">
                <a:lnSpc>
                  <a:spcPct val="200000"/>
                </a:lnSpc>
                <a:buNone/>
              </a:pPr>
              <a:r>
                <a:rPr lang="en-US" sz="1550" dirty="0">
                  <a:solidFill>
                    <a:srgbClr val="E5E0DF"/>
                  </a:solidFill>
                  <a:latin typeface="Inter" pitchFamily="34" charset="0"/>
                  <a:ea typeface="Inter" pitchFamily="34" charset="-122"/>
                  <a:cs typeface="Inter" pitchFamily="34" charset="-120"/>
                </a:rPr>
                <a:t>Most current research relies on the MovingAI benchmark maps,</a:t>
              </a:r>
            </a:p>
            <a:p>
              <a:pPr marL="0" indent="0" algn="l">
                <a:lnSpc>
                  <a:spcPct val="200000"/>
                </a:lnSpc>
                <a:buNone/>
              </a:pPr>
              <a:r>
                <a:rPr lang="en-US" sz="1550" dirty="0">
                  <a:solidFill>
                    <a:srgbClr val="E5E0DF"/>
                  </a:solidFill>
                  <a:latin typeface="Inter" pitchFamily="34" charset="0"/>
                  <a:ea typeface="Inter" pitchFamily="34" charset="-122"/>
                  <a:cs typeface="Inter" pitchFamily="34" charset="-120"/>
                </a:rPr>
                <a:t> which include:</a:t>
              </a:r>
            </a:p>
            <a:p>
              <a:pPr marL="342900" indent="-342900">
                <a:lnSpc>
                  <a:spcPct val="200000"/>
                </a:lnSpc>
                <a:buFont typeface="+mj-lt"/>
                <a:buAutoNum type="arabicPeriod"/>
              </a:pPr>
              <a:r>
                <a:rPr lang="en-US" altLang="zh-CN" sz="1550" dirty="0">
                  <a:solidFill>
                    <a:srgbClr val="E5E0DF"/>
                  </a:solidFill>
                  <a:latin typeface="Inter" pitchFamily="34" charset="0"/>
                  <a:ea typeface="Inter" pitchFamily="34" charset="-122"/>
                  <a:cs typeface="Inter" pitchFamily="34" charset="-120"/>
                </a:rPr>
                <a:t>Maps from StarCraft</a:t>
              </a:r>
            </a:p>
            <a:p>
              <a:pPr marL="342900" indent="-342900">
                <a:lnSpc>
                  <a:spcPct val="200000"/>
                </a:lnSpc>
                <a:buFont typeface="+mj-lt"/>
                <a:buAutoNum type="arabicPeriod"/>
              </a:pPr>
              <a:r>
                <a:rPr lang="en-US" altLang="zh-CN" sz="1550" dirty="0">
                  <a:solidFill>
                    <a:srgbClr val="E5E0DF"/>
                  </a:solidFill>
                  <a:latin typeface="Inter" pitchFamily="34" charset="0"/>
                  <a:ea typeface="Inter" pitchFamily="34" charset="-122"/>
                  <a:cs typeface="Inter" pitchFamily="34" charset="-120"/>
                </a:rPr>
                <a:t>Dragon Age: Origins environments</a:t>
              </a:r>
            </a:p>
            <a:p>
              <a:pPr marL="342900" indent="-342900">
                <a:lnSpc>
                  <a:spcPct val="200000"/>
                </a:lnSpc>
                <a:buFont typeface="+mj-lt"/>
                <a:buAutoNum type="arabicPeriod"/>
              </a:pPr>
              <a:r>
                <a:rPr lang="en-US" altLang="zh-CN" sz="1550" dirty="0">
                  <a:solidFill>
                    <a:srgbClr val="E5E0DF"/>
                  </a:solidFill>
                  <a:latin typeface="Inter" pitchFamily="34" charset="0"/>
                  <a:ea typeface="Inter" pitchFamily="34" charset="-122"/>
                  <a:cs typeface="Inter" pitchFamily="34" charset="-120"/>
                </a:rPr>
                <a:t>Various grid-based game worlds</a:t>
              </a:r>
            </a:p>
            <a:p>
              <a:pPr>
                <a:lnSpc>
                  <a:spcPct val="200000"/>
                </a:lnSpc>
              </a:pPr>
              <a:r>
                <a:rPr lang="en-US" altLang="zh-CN" sz="1550" dirty="0">
                  <a:solidFill>
                    <a:srgbClr val="E5E0DF"/>
                  </a:solidFill>
                  <a:latin typeface="Inter" pitchFamily="34" charset="0"/>
                  <a:ea typeface="Inter" pitchFamily="34" charset="-122"/>
                  <a:cs typeface="Inter" pitchFamily="34" charset="-120"/>
                </a:rPr>
                <a:t>These maps have become the de facto standard for algorithm</a:t>
              </a:r>
            </a:p>
            <a:p>
              <a:pPr>
                <a:lnSpc>
                  <a:spcPct val="200000"/>
                </a:lnSpc>
              </a:pPr>
              <a:r>
                <a:rPr lang="en-US" altLang="zh-CN" sz="1550" dirty="0">
                  <a:solidFill>
                    <a:srgbClr val="E5E0DF"/>
                  </a:solidFill>
                  <a:latin typeface="Inter" pitchFamily="34" charset="0"/>
                  <a:ea typeface="Inter" pitchFamily="34" charset="-122"/>
                  <a:cs typeface="Inter" pitchFamily="34" charset="-120"/>
                </a:rPr>
                <a:t> comparison and evaluation.</a:t>
              </a:r>
              <a:endParaRPr lang="en-US" altLang="zh-CN" sz="1550" dirty="0"/>
            </a:p>
            <a:p>
              <a:pPr marL="342900" indent="-342900">
                <a:lnSpc>
                  <a:spcPts val="1900"/>
                </a:lnSpc>
                <a:buFont typeface="+mj-lt"/>
                <a:buAutoNum type="arabicPeriod"/>
              </a:pPr>
              <a:endParaRPr lang="en-US" altLang="zh-CN" sz="1550" dirty="0">
                <a:solidFill>
                  <a:srgbClr val="E5E0DF"/>
                </a:solidFill>
                <a:latin typeface="Inter" pitchFamily="34" charset="0"/>
                <a:ea typeface="Inter" pitchFamily="34" charset="-122"/>
                <a:cs typeface="Inter" pitchFamily="34" charset="-120"/>
              </a:endParaRPr>
            </a:p>
            <a:p>
              <a:pPr>
                <a:lnSpc>
                  <a:spcPts val="1900"/>
                </a:lnSpc>
              </a:pPr>
              <a:endParaRPr lang="en-US" altLang="zh-CN" sz="1550" dirty="0"/>
            </a:p>
            <a:p>
              <a:pPr>
                <a:lnSpc>
                  <a:spcPts val="1900"/>
                </a:lnSpc>
              </a:pPr>
              <a:endParaRPr lang="en-US" altLang="zh-CN" sz="1550" dirty="0"/>
            </a:p>
            <a:p>
              <a:pPr>
                <a:lnSpc>
                  <a:spcPts val="1900"/>
                </a:lnSpc>
              </a:pPr>
              <a:endParaRPr lang="en-US" altLang="zh-CN" sz="1550" dirty="0"/>
            </a:p>
            <a:p>
              <a:pPr marL="0" indent="0" algn="l">
                <a:lnSpc>
                  <a:spcPts val="1900"/>
                </a:lnSpc>
                <a:buNone/>
              </a:pPr>
              <a:endParaRPr lang="en-US" sz="1550" dirty="0"/>
            </a:p>
          </p:txBody>
        </p:sp>
        <p:sp>
          <p:nvSpPr>
            <p:cNvPr id="5" name="Text 3"/>
            <p:cNvSpPr/>
            <p:nvPr/>
          </p:nvSpPr>
          <p:spPr>
            <a:xfrm>
              <a:off x="606028" y="2035731"/>
              <a:ext cx="6524387" cy="113302"/>
            </a:xfrm>
            <a:prstGeom prst="rect">
              <a:avLst/>
            </a:prstGeom>
            <a:noFill/>
            <a:ln/>
          </p:spPr>
          <p:txBody>
            <a:bodyPr wrap="none" lIns="0" tIns="0" rIns="0" bIns="0" rtlCol="0" anchor="t"/>
            <a:lstStyle/>
            <a:p>
              <a:pPr marL="342900" indent="-342900" algn="l">
                <a:lnSpc>
                  <a:spcPts val="1900"/>
                </a:lnSpc>
                <a:buSzPct val="100000"/>
                <a:buChar char="•"/>
              </a:pPr>
              <a:endParaRPr lang="en-US" sz="1550" dirty="0"/>
            </a:p>
          </p:txBody>
        </p:sp>
        <p:sp>
          <p:nvSpPr>
            <p:cNvPr id="6" name="Text 4"/>
            <p:cNvSpPr/>
            <p:nvPr/>
          </p:nvSpPr>
          <p:spPr>
            <a:xfrm>
              <a:off x="606028" y="2331125"/>
              <a:ext cx="6524387" cy="242411"/>
            </a:xfrm>
            <a:prstGeom prst="rect">
              <a:avLst/>
            </a:prstGeom>
            <a:noFill/>
            <a:ln/>
          </p:spPr>
          <p:txBody>
            <a:bodyPr wrap="none" lIns="0" tIns="0" rIns="0" bIns="0" rtlCol="0" anchor="t"/>
            <a:lstStyle/>
            <a:p>
              <a:pPr marL="342900" indent="-342900" algn="l">
                <a:lnSpc>
                  <a:spcPts val="1900"/>
                </a:lnSpc>
                <a:buSzPct val="100000"/>
                <a:buChar char="•"/>
              </a:pPr>
              <a:endParaRPr lang="en-US" sz="1550" dirty="0"/>
            </a:p>
          </p:txBody>
        </p:sp>
        <p:sp>
          <p:nvSpPr>
            <p:cNvPr id="7" name="Text 5"/>
            <p:cNvSpPr/>
            <p:nvPr/>
          </p:nvSpPr>
          <p:spPr>
            <a:xfrm>
              <a:off x="606028" y="2626519"/>
              <a:ext cx="6524387" cy="242411"/>
            </a:xfrm>
            <a:prstGeom prst="rect">
              <a:avLst/>
            </a:prstGeom>
            <a:noFill/>
            <a:ln/>
          </p:spPr>
          <p:txBody>
            <a:bodyPr wrap="none" lIns="0" tIns="0" rIns="0" bIns="0" rtlCol="0" anchor="t"/>
            <a:lstStyle/>
            <a:p>
              <a:pPr marL="342900" indent="-342900" algn="l">
                <a:lnSpc>
                  <a:spcPts val="1900"/>
                </a:lnSpc>
                <a:buSzPct val="100000"/>
                <a:buChar char="•"/>
              </a:pPr>
              <a:endParaRPr lang="en-US" sz="1550" dirty="0"/>
            </a:p>
          </p:txBody>
        </p:sp>
        <p:sp>
          <p:nvSpPr>
            <p:cNvPr id="8" name="Text 6"/>
            <p:cNvSpPr/>
            <p:nvPr/>
          </p:nvSpPr>
          <p:spPr>
            <a:xfrm>
              <a:off x="606028" y="3005257"/>
              <a:ext cx="6524387" cy="242411"/>
            </a:xfrm>
            <a:prstGeom prst="rect">
              <a:avLst/>
            </a:prstGeom>
            <a:noFill/>
            <a:ln/>
          </p:spPr>
          <p:txBody>
            <a:bodyPr wrap="none" lIns="0" tIns="0" rIns="0" bIns="0" rtlCol="0" anchor="t"/>
            <a:lstStyle/>
            <a:p>
              <a:pPr marL="0" indent="0" algn="l">
                <a:lnSpc>
                  <a:spcPts val="1900"/>
                </a:lnSpc>
                <a:buNone/>
              </a:pPr>
              <a:endParaRPr lang="en-US" sz="1550" dirty="0"/>
            </a:p>
          </p:txBody>
        </p:sp>
      </p:grpSp>
      <p:pic>
        <p:nvPicPr>
          <p:cNvPr id="9" name="Image 0" descr="preencoded.png"/>
          <p:cNvPicPr>
            <a:picLocks noChangeAspect="1"/>
          </p:cNvPicPr>
          <p:nvPr/>
        </p:nvPicPr>
        <p:blipFill>
          <a:blip r:embed="rId3"/>
          <a:stretch>
            <a:fillRect/>
          </a:stretch>
        </p:blipFill>
        <p:spPr>
          <a:xfrm>
            <a:off x="7672705" y="416600"/>
            <a:ext cx="6524387" cy="6524387"/>
          </a:xfrm>
          <a:prstGeom prst="rect">
            <a:avLst/>
          </a:prstGeom>
        </p:spPr>
      </p:pic>
      <p:sp>
        <p:nvSpPr>
          <p:cNvPr id="10" name="Text 7"/>
          <p:cNvSpPr/>
          <p:nvPr/>
        </p:nvSpPr>
        <p:spPr>
          <a:xfrm>
            <a:off x="3476626" y="7465456"/>
            <a:ext cx="11453892" cy="484823"/>
          </a:xfrm>
          <a:prstGeom prst="rect">
            <a:avLst/>
          </a:prstGeom>
          <a:noFill/>
          <a:ln/>
        </p:spPr>
        <p:txBody>
          <a:bodyPr wrap="square" lIns="0" tIns="0" rIns="0" bIns="0" rtlCol="0" anchor="t"/>
          <a:lstStyle/>
          <a:p>
            <a:pPr marL="0" indent="0" algn="l">
              <a:lnSpc>
                <a:spcPts val="1900"/>
              </a:lnSpc>
              <a:buNone/>
            </a:pPr>
            <a:r>
              <a:rPr lang="en-US" sz="1150" dirty="0">
                <a:solidFill>
                  <a:srgbClr val="E5E0DF"/>
                </a:solidFill>
                <a:latin typeface="Inter" pitchFamily="34" charset="0"/>
                <a:ea typeface="Inter" pitchFamily="34" charset="-122"/>
                <a:cs typeface="Inter" pitchFamily="34" charset="-120"/>
              </a:rPr>
              <a:t>GPPC (Grid-Based Path Planning Competition) defines "big maps" as 1024×1024 grids, which represents the current upper bound for most published research.</a:t>
            </a:r>
            <a:endParaRPr lang="en-US" sz="1150" dirty="0"/>
          </a:p>
        </p:txBody>
      </p:sp>
      <p:sp>
        <p:nvSpPr>
          <p:cNvPr id="12" name="矩形 11">
            <a:extLst>
              <a:ext uri="{FF2B5EF4-FFF2-40B4-BE49-F238E27FC236}">
                <a16:creationId xmlns:a16="http://schemas.microsoft.com/office/drawing/2014/main" id="{FA0EBC19-9A75-45D6-B2B8-29B88B566389}"/>
              </a:ext>
            </a:extLst>
          </p:cNvPr>
          <p:cNvSpPr/>
          <p:nvPr/>
        </p:nvSpPr>
        <p:spPr>
          <a:xfrm>
            <a:off x="568229" y="7385922"/>
            <a:ext cx="2774927" cy="369332"/>
          </a:xfrm>
          <a:prstGeom prst="rect">
            <a:avLst/>
          </a:prstGeom>
        </p:spPr>
        <p:txBody>
          <a:bodyPr wrap="none">
            <a:spAutoFit/>
          </a:bodyPr>
          <a:lstStyle/>
          <a:p>
            <a:r>
              <a:rPr lang="en-US" altLang="zh-CN" dirty="0">
                <a:hlinkClick r:id="rId4"/>
              </a:rPr>
              <a:t>GPPC Competition Platform</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9965" y="1006912"/>
            <a:ext cx="6851452"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Methodological Approaches</a:t>
            </a:r>
            <a:endParaRPr lang="en-US" sz="3900" dirty="0"/>
          </a:p>
        </p:txBody>
      </p:sp>
      <p:pic>
        <p:nvPicPr>
          <p:cNvPr id="3" name="Image 0" descr="preencoded.png"/>
          <p:cNvPicPr>
            <a:picLocks noChangeAspect="1"/>
          </p:cNvPicPr>
          <p:nvPr/>
        </p:nvPicPr>
        <p:blipFill>
          <a:blip r:embed="rId3"/>
          <a:stretch>
            <a:fillRect/>
          </a:stretch>
        </p:blipFill>
        <p:spPr>
          <a:xfrm>
            <a:off x="669965" y="2023824"/>
            <a:ext cx="4347567" cy="793790"/>
          </a:xfrm>
          <a:prstGeom prst="rect">
            <a:avLst/>
          </a:prstGeom>
        </p:spPr>
      </p:pic>
      <p:sp>
        <p:nvSpPr>
          <p:cNvPr id="4" name="Text 1"/>
          <p:cNvSpPr/>
          <p:nvPr/>
        </p:nvSpPr>
        <p:spPr>
          <a:xfrm>
            <a:off x="868323" y="3015972"/>
            <a:ext cx="2901553"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Heuristic Improvements</a:t>
            </a:r>
            <a:endParaRPr lang="en-US" sz="1950" dirty="0"/>
          </a:p>
        </p:txBody>
      </p:sp>
      <p:sp>
        <p:nvSpPr>
          <p:cNvPr id="5" name="Text 2"/>
          <p:cNvSpPr/>
          <p:nvPr/>
        </p:nvSpPr>
        <p:spPr>
          <a:xfrm>
            <a:off x="868323" y="3445193"/>
            <a:ext cx="3950851"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Enhancing distance estimation functions</a:t>
            </a:r>
            <a:endParaRPr lang="en-US" sz="1550" dirty="0"/>
          </a:p>
        </p:txBody>
      </p:sp>
      <p:sp>
        <p:nvSpPr>
          <p:cNvPr id="6" name="Text 3"/>
          <p:cNvSpPr/>
          <p:nvPr/>
        </p:nvSpPr>
        <p:spPr>
          <a:xfrm>
            <a:off x="868323" y="3881795"/>
            <a:ext cx="395085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D* and variants</a:t>
            </a:r>
            <a:endParaRPr lang="en-US" sz="1550" dirty="0"/>
          </a:p>
        </p:txBody>
      </p:sp>
      <p:sp>
        <p:nvSpPr>
          <p:cNvPr id="7" name="Text 4"/>
          <p:cNvSpPr/>
          <p:nvPr/>
        </p:nvSpPr>
        <p:spPr>
          <a:xfrm>
            <a:off x="868323" y="4268748"/>
            <a:ext cx="395085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Any-angle pathfinding</a:t>
            </a:r>
            <a:endParaRPr lang="en-US" sz="1550" dirty="0"/>
          </a:p>
        </p:txBody>
      </p:sp>
      <p:sp>
        <p:nvSpPr>
          <p:cNvPr id="8" name="Text 5"/>
          <p:cNvSpPr/>
          <p:nvPr/>
        </p:nvSpPr>
        <p:spPr>
          <a:xfrm>
            <a:off x="868323" y="4655701"/>
            <a:ext cx="3950851"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Euclidean and Manhattan hybrid approaches</a:t>
            </a:r>
            <a:endParaRPr lang="en-US" sz="1550" dirty="0"/>
          </a:p>
        </p:txBody>
      </p:sp>
      <p:pic>
        <p:nvPicPr>
          <p:cNvPr id="9" name="Image 1" descr="preencoded.png"/>
          <p:cNvPicPr>
            <a:picLocks noChangeAspect="1"/>
          </p:cNvPicPr>
          <p:nvPr/>
        </p:nvPicPr>
        <p:blipFill>
          <a:blip r:embed="rId4"/>
          <a:stretch>
            <a:fillRect/>
          </a:stretch>
        </p:blipFill>
        <p:spPr>
          <a:xfrm>
            <a:off x="5017532" y="2023824"/>
            <a:ext cx="4347567" cy="793790"/>
          </a:xfrm>
          <a:prstGeom prst="rect">
            <a:avLst/>
          </a:prstGeom>
        </p:spPr>
      </p:pic>
      <p:sp>
        <p:nvSpPr>
          <p:cNvPr id="10" name="Text 6"/>
          <p:cNvSpPr/>
          <p:nvPr/>
        </p:nvSpPr>
        <p:spPr>
          <a:xfrm>
            <a:off x="5215890" y="3015972"/>
            <a:ext cx="2945844"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Hierarchical Abstraction</a:t>
            </a:r>
            <a:endParaRPr lang="en-US" sz="1950" dirty="0"/>
          </a:p>
        </p:txBody>
      </p:sp>
      <p:sp>
        <p:nvSpPr>
          <p:cNvPr id="11" name="Text 7"/>
          <p:cNvSpPr/>
          <p:nvPr/>
        </p:nvSpPr>
        <p:spPr>
          <a:xfrm>
            <a:off x="5215890" y="3445193"/>
            <a:ext cx="3950851"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Reducing search space complexity</a:t>
            </a:r>
            <a:endParaRPr lang="en-US" sz="1550" dirty="0"/>
          </a:p>
        </p:txBody>
      </p:sp>
      <p:sp>
        <p:nvSpPr>
          <p:cNvPr id="12" name="Text 8"/>
          <p:cNvSpPr/>
          <p:nvPr/>
        </p:nvSpPr>
        <p:spPr>
          <a:xfrm>
            <a:off x="5215890" y="3881795"/>
            <a:ext cx="395085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HPA* (Hierarchical Pathfinding A*)</a:t>
            </a:r>
            <a:endParaRPr lang="en-US" sz="1550" dirty="0"/>
          </a:p>
        </p:txBody>
      </p:sp>
      <p:sp>
        <p:nvSpPr>
          <p:cNvPr id="13" name="Text 9"/>
          <p:cNvSpPr/>
          <p:nvPr/>
        </p:nvSpPr>
        <p:spPr>
          <a:xfrm>
            <a:off x="5215890" y="4268748"/>
            <a:ext cx="395085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JPS (Jump Point Search)</a:t>
            </a:r>
            <a:endParaRPr lang="en-US" sz="1550" dirty="0"/>
          </a:p>
        </p:txBody>
      </p:sp>
      <p:sp>
        <p:nvSpPr>
          <p:cNvPr id="14" name="Text 10"/>
          <p:cNvSpPr/>
          <p:nvPr/>
        </p:nvSpPr>
        <p:spPr>
          <a:xfrm>
            <a:off x="5215890" y="4655701"/>
            <a:ext cx="395085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Multi-level abstraction techniques</a:t>
            </a:r>
            <a:endParaRPr lang="en-US" sz="1550" dirty="0"/>
          </a:p>
        </p:txBody>
      </p:sp>
      <p:pic>
        <p:nvPicPr>
          <p:cNvPr id="15" name="Image 2" descr="preencoded.png"/>
          <p:cNvPicPr>
            <a:picLocks noChangeAspect="1"/>
          </p:cNvPicPr>
          <p:nvPr/>
        </p:nvPicPr>
        <p:blipFill>
          <a:blip r:embed="rId5"/>
          <a:stretch>
            <a:fillRect/>
          </a:stretch>
        </p:blipFill>
        <p:spPr>
          <a:xfrm>
            <a:off x="9365099" y="2023824"/>
            <a:ext cx="4347567" cy="793790"/>
          </a:xfrm>
          <a:prstGeom prst="rect">
            <a:avLst/>
          </a:prstGeom>
        </p:spPr>
      </p:pic>
      <p:sp>
        <p:nvSpPr>
          <p:cNvPr id="16" name="Text 11"/>
          <p:cNvSpPr/>
          <p:nvPr/>
        </p:nvSpPr>
        <p:spPr>
          <a:xfrm>
            <a:off x="9563457" y="3015972"/>
            <a:ext cx="3206472"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Engineering Optimizations</a:t>
            </a:r>
            <a:endParaRPr lang="en-US" sz="1950" dirty="0"/>
          </a:p>
        </p:txBody>
      </p:sp>
      <p:sp>
        <p:nvSpPr>
          <p:cNvPr id="17" name="Text 12"/>
          <p:cNvSpPr/>
          <p:nvPr/>
        </p:nvSpPr>
        <p:spPr>
          <a:xfrm>
            <a:off x="9563457" y="3445193"/>
            <a:ext cx="3950851"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Implementation-level enhancements</a:t>
            </a:r>
            <a:endParaRPr lang="en-US" sz="1550" dirty="0"/>
          </a:p>
        </p:txBody>
      </p:sp>
      <p:sp>
        <p:nvSpPr>
          <p:cNvPr id="18" name="Text 13"/>
          <p:cNvSpPr/>
          <p:nvPr/>
        </p:nvSpPr>
        <p:spPr>
          <a:xfrm>
            <a:off x="9563457" y="3881795"/>
            <a:ext cx="395085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Memory management techniques</a:t>
            </a:r>
            <a:endParaRPr lang="en-US" sz="1550" dirty="0"/>
          </a:p>
        </p:txBody>
      </p:sp>
      <p:sp>
        <p:nvSpPr>
          <p:cNvPr id="19" name="Text 14"/>
          <p:cNvSpPr/>
          <p:nvPr/>
        </p:nvSpPr>
        <p:spPr>
          <a:xfrm>
            <a:off x="9563457" y="4268748"/>
            <a:ext cx="395085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Cache optimization</a:t>
            </a:r>
            <a:endParaRPr lang="en-US" sz="1550" dirty="0"/>
          </a:p>
        </p:txBody>
      </p:sp>
      <p:sp>
        <p:nvSpPr>
          <p:cNvPr id="20" name="Text 15"/>
          <p:cNvSpPr/>
          <p:nvPr/>
        </p:nvSpPr>
        <p:spPr>
          <a:xfrm>
            <a:off x="9563457" y="4655701"/>
            <a:ext cx="395085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Algorithmic refinements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616869"/>
            <a:ext cx="6138029"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Experimental Evaluations</a:t>
            </a:r>
            <a:endParaRPr lang="en-US" sz="3900" dirty="0"/>
          </a:p>
        </p:txBody>
      </p:sp>
      <p:sp>
        <p:nvSpPr>
          <p:cNvPr id="4" name="Text 1"/>
          <p:cNvSpPr/>
          <p:nvPr/>
        </p:nvSpPr>
        <p:spPr>
          <a:xfrm>
            <a:off x="6280190" y="2534603"/>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Initial comparative testing was conducted using the python-motion-planning repository as a unified framework, evaluating seven distinct pathfinding methods:</a:t>
            </a:r>
            <a:endParaRPr lang="en-US" sz="1550" dirty="0"/>
          </a:p>
        </p:txBody>
      </p:sp>
      <p:sp>
        <p:nvSpPr>
          <p:cNvPr id="5" name="Text 2"/>
          <p:cNvSpPr/>
          <p:nvPr/>
        </p:nvSpPr>
        <p:spPr>
          <a:xfrm>
            <a:off x="6280190" y="3889058"/>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A* (baseline algorithm)</a:t>
            </a:r>
            <a:endParaRPr lang="en-US" sz="1550" dirty="0"/>
          </a:p>
        </p:txBody>
      </p:sp>
      <p:sp>
        <p:nvSpPr>
          <p:cNvPr id="6" name="Text 3"/>
          <p:cNvSpPr/>
          <p:nvPr/>
        </p:nvSpPr>
        <p:spPr>
          <a:xfrm>
            <a:off x="6280190" y="4276011"/>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D* (Dynamic A*)</a:t>
            </a:r>
            <a:endParaRPr lang="en-US" sz="1550" dirty="0"/>
          </a:p>
        </p:txBody>
      </p:sp>
      <p:sp>
        <p:nvSpPr>
          <p:cNvPr id="7" name="Text 4"/>
          <p:cNvSpPr/>
          <p:nvPr/>
        </p:nvSpPr>
        <p:spPr>
          <a:xfrm>
            <a:off x="6280190" y="4662964"/>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JPS (Jump Point Search)</a:t>
            </a:r>
            <a:endParaRPr lang="en-US" sz="1550" dirty="0"/>
          </a:p>
        </p:txBody>
      </p:sp>
      <p:sp>
        <p:nvSpPr>
          <p:cNvPr id="8" name="Text 5"/>
          <p:cNvSpPr/>
          <p:nvPr/>
        </p:nvSpPr>
        <p:spPr>
          <a:xfrm>
            <a:off x="6280190" y="5049917"/>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THETA* (Any-angle pathfinding)</a:t>
            </a:r>
            <a:endParaRPr lang="en-US" sz="1550" dirty="0"/>
          </a:p>
        </p:txBody>
      </p:sp>
      <p:sp>
        <p:nvSpPr>
          <p:cNvPr id="9" name="Text 6"/>
          <p:cNvSpPr/>
          <p:nvPr/>
        </p:nvSpPr>
        <p:spPr>
          <a:xfrm>
            <a:off x="10308074" y="3889058"/>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Bidirectional search variants</a:t>
            </a:r>
            <a:endParaRPr lang="en-US" sz="1550" dirty="0"/>
          </a:p>
        </p:txBody>
      </p:sp>
      <p:sp>
        <p:nvSpPr>
          <p:cNvPr id="10" name="Text 7"/>
          <p:cNvSpPr/>
          <p:nvPr/>
        </p:nvSpPr>
        <p:spPr>
          <a:xfrm>
            <a:off x="10308074" y="4276011"/>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Weighted A* implementations</a:t>
            </a:r>
            <a:endParaRPr lang="en-US" sz="1550" dirty="0"/>
          </a:p>
        </p:txBody>
      </p:sp>
      <p:sp>
        <p:nvSpPr>
          <p:cNvPr id="11" name="Text 8"/>
          <p:cNvSpPr/>
          <p:nvPr/>
        </p:nvSpPr>
        <p:spPr>
          <a:xfrm>
            <a:off x="10308074" y="4662964"/>
            <a:ext cx="35361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5E0DF"/>
                </a:solidFill>
                <a:latin typeface="Inter" pitchFamily="34" charset="0"/>
                <a:ea typeface="Inter" pitchFamily="34" charset="-122"/>
                <a:cs typeface="Inter" pitchFamily="34" charset="-120"/>
              </a:rPr>
              <a:t>Hybrid approaches</a:t>
            </a:r>
            <a:endParaRPr lang="en-US" sz="1550" dirty="0"/>
          </a:p>
        </p:txBody>
      </p:sp>
      <p:sp>
        <p:nvSpPr>
          <p:cNvPr id="12" name="Text 9"/>
          <p:cNvSpPr/>
          <p:nvPr/>
        </p:nvSpPr>
        <p:spPr>
          <a:xfrm>
            <a:off x="6280190" y="5660112"/>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Monte Carlo experiments revealed no statistically significant performance differences between these methods when implemented in Python, suggesting that algorithmic changes alone are insufficient for large-scale improvements.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826419"/>
            <a:ext cx="8096607"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Implementation Language Impact</a:t>
            </a:r>
            <a:endParaRPr lang="en-US" sz="3900" dirty="0"/>
          </a:p>
        </p:txBody>
      </p:sp>
      <p:sp>
        <p:nvSpPr>
          <p:cNvPr id="3" name="Text 1"/>
          <p:cNvSpPr/>
          <p:nvPr/>
        </p:nvSpPr>
        <p:spPr>
          <a:xfrm>
            <a:off x="793790" y="2942511"/>
            <a:ext cx="4182189" cy="654963"/>
          </a:xfrm>
          <a:prstGeom prst="rect">
            <a:avLst/>
          </a:prstGeom>
          <a:noFill/>
          <a:ln/>
        </p:spPr>
        <p:txBody>
          <a:bodyPr wrap="none" lIns="0" tIns="0" rIns="0" bIns="0" rtlCol="0" anchor="t"/>
          <a:lstStyle/>
          <a:p>
            <a:pPr marL="0" indent="0" algn="ctr">
              <a:lnSpc>
                <a:spcPts val="5150"/>
              </a:lnSpc>
              <a:buNone/>
            </a:pPr>
            <a:r>
              <a:rPr lang="en-US" sz="5150" b="1" dirty="0">
                <a:solidFill>
                  <a:srgbClr val="E5E0DF"/>
                </a:solidFill>
                <a:latin typeface="Inter Bold" pitchFamily="34" charset="0"/>
                <a:ea typeface="Inter Bold" pitchFamily="34" charset="-122"/>
                <a:cs typeface="Inter Bold" pitchFamily="34" charset="-120"/>
              </a:rPr>
              <a:t>10-50x</a:t>
            </a:r>
            <a:endParaRPr lang="en-US" sz="5150" dirty="0"/>
          </a:p>
        </p:txBody>
      </p:sp>
      <p:sp>
        <p:nvSpPr>
          <p:cNvPr id="4" name="Text 2"/>
          <p:cNvSpPr/>
          <p:nvPr/>
        </p:nvSpPr>
        <p:spPr>
          <a:xfrm>
            <a:off x="1644372" y="3845481"/>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E5E0DF"/>
                </a:solidFill>
                <a:latin typeface="Inter Bold" pitchFamily="34" charset="0"/>
                <a:ea typeface="Inter Bold" pitchFamily="34" charset="-122"/>
                <a:cs typeface="Inter Bold" pitchFamily="34" charset="-120"/>
              </a:rPr>
              <a:t>Speed Improvement</a:t>
            </a:r>
            <a:endParaRPr lang="en-US" sz="1950" dirty="0"/>
          </a:p>
        </p:txBody>
      </p:sp>
      <p:sp>
        <p:nvSpPr>
          <p:cNvPr id="5" name="Text 3"/>
          <p:cNvSpPr/>
          <p:nvPr/>
        </p:nvSpPr>
        <p:spPr>
          <a:xfrm>
            <a:off x="793790" y="4274701"/>
            <a:ext cx="4182189" cy="952619"/>
          </a:xfrm>
          <a:prstGeom prst="rect">
            <a:avLst/>
          </a:prstGeom>
          <a:noFill/>
          <a:ln/>
        </p:spPr>
        <p:txBody>
          <a:bodyPr wrap="square" lIns="0" tIns="0" rIns="0" bIns="0" rtlCol="0" anchor="t"/>
          <a:lstStyle/>
          <a:p>
            <a:pPr marL="0" indent="0" algn="ctr">
              <a:lnSpc>
                <a:spcPts val="2500"/>
              </a:lnSpc>
              <a:buNone/>
            </a:pPr>
            <a:r>
              <a:rPr lang="en-US" sz="1550" dirty="0">
                <a:solidFill>
                  <a:srgbClr val="E5E0DF"/>
                </a:solidFill>
                <a:latin typeface="Inter" pitchFamily="34" charset="0"/>
                <a:ea typeface="Inter" pitchFamily="34" charset="-122"/>
                <a:cs typeface="Inter" pitchFamily="34" charset="-120"/>
              </a:rPr>
              <a:t>Switching from Python to C++/C# implementations yielded dramatic performance gains across all algorithms.</a:t>
            </a:r>
            <a:endParaRPr lang="en-US" sz="1550" dirty="0"/>
          </a:p>
        </p:txBody>
      </p:sp>
      <p:sp>
        <p:nvSpPr>
          <p:cNvPr id="6" name="Text 4"/>
          <p:cNvSpPr/>
          <p:nvPr/>
        </p:nvSpPr>
        <p:spPr>
          <a:xfrm>
            <a:off x="5223986" y="2942511"/>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E5E0DF"/>
                </a:solidFill>
                <a:latin typeface="Inter Bold" pitchFamily="34" charset="0"/>
                <a:ea typeface="Inter Bold" pitchFamily="34" charset="-122"/>
                <a:cs typeface="Inter Bold" pitchFamily="34" charset="-120"/>
              </a:rPr>
              <a:t>PyBind11</a:t>
            </a:r>
            <a:endParaRPr lang="en-US" sz="5150" dirty="0"/>
          </a:p>
        </p:txBody>
      </p:sp>
      <p:sp>
        <p:nvSpPr>
          <p:cNvPr id="7" name="Text 5"/>
          <p:cNvSpPr/>
          <p:nvPr/>
        </p:nvSpPr>
        <p:spPr>
          <a:xfrm>
            <a:off x="6074688" y="3845481"/>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E5E0DF"/>
                </a:solidFill>
                <a:latin typeface="Inter Bold" pitchFamily="34" charset="0"/>
                <a:ea typeface="Inter Bold" pitchFamily="34" charset="-122"/>
                <a:cs typeface="Inter Bold" pitchFamily="34" charset="-120"/>
              </a:rPr>
              <a:t>Integration Method</a:t>
            </a:r>
            <a:endParaRPr lang="en-US" sz="1950" dirty="0"/>
          </a:p>
        </p:txBody>
      </p:sp>
      <p:sp>
        <p:nvSpPr>
          <p:cNvPr id="8" name="Text 6"/>
          <p:cNvSpPr/>
          <p:nvPr/>
        </p:nvSpPr>
        <p:spPr>
          <a:xfrm>
            <a:off x="5223986" y="4274701"/>
            <a:ext cx="4182308" cy="1270159"/>
          </a:xfrm>
          <a:prstGeom prst="rect">
            <a:avLst/>
          </a:prstGeom>
          <a:noFill/>
          <a:ln/>
        </p:spPr>
        <p:txBody>
          <a:bodyPr wrap="square" lIns="0" tIns="0" rIns="0" bIns="0" rtlCol="0" anchor="t"/>
          <a:lstStyle/>
          <a:p>
            <a:pPr marL="0" indent="0" algn="ctr">
              <a:lnSpc>
                <a:spcPts val="2500"/>
              </a:lnSpc>
              <a:buNone/>
            </a:pPr>
            <a:r>
              <a:rPr lang="en-US" sz="1550" dirty="0">
                <a:solidFill>
                  <a:srgbClr val="E5E0DF"/>
                </a:solidFill>
                <a:latin typeface="Inter" pitchFamily="34" charset="0"/>
                <a:ea typeface="Inter" pitchFamily="34" charset="-122"/>
                <a:cs typeface="Inter" pitchFamily="34" charset="-120"/>
              </a:rPr>
              <a:t>Python bindings allowed efficient utilization of native code performance while maintaining Python's flexibility for experimentation.</a:t>
            </a:r>
            <a:endParaRPr lang="en-US" sz="1550" dirty="0"/>
          </a:p>
        </p:txBody>
      </p:sp>
      <p:sp>
        <p:nvSpPr>
          <p:cNvPr id="9" name="Text 7"/>
          <p:cNvSpPr/>
          <p:nvPr/>
        </p:nvSpPr>
        <p:spPr>
          <a:xfrm>
            <a:off x="9654302" y="2942511"/>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E5E0DF"/>
                </a:solidFill>
                <a:latin typeface="Inter Bold" pitchFamily="34" charset="0"/>
                <a:ea typeface="Inter Bold" pitchFamily="34" charset="-122"/>
                <a:cs typeface="Inter Bold" pitchFamily="34" charset="-120"/>
              </a:rPr>
              <a:t>BL_JPS</a:t>
            </a:r>
            <a:endParaRPr lang="en-US" sz="5150" dirty="0"/>
          </a:p>
        </p:txBody>
      </p:sp>
      <p:sp>
        <p:nvSpPr>
          <p:cNvPr id="10" name="Text 8"/>
          <p:cNvSpPr/>
          <p:nvPr/>
        </p:nvSpPr>
        <p:spPr>
          <a:xfrm>
            <a:off x="10505003" y="3845481"/>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E5E0DF"/>
                </a:solidFill>
                <a:latin typeface="Inter Bold" pitchFamily="34" charset="0"/>
                <a:ea typeface="Inter Bold" pitchFamily="34" charset="-122"/>
                <a:cs typeface="Inter Bold" pitchFamily="34" charset="-120"/>
              </a:rPr>
              <a:t>Best Performer</a:t>
            </a:r>
            <a:endParaRPr lang="en-US" sz="1950" dirty="0"/>
          </a:p>
        </p:txBody>
      </p:sp>
      <p:sp>
        <p:nvSpPr>
          <p:cNvPr id="11" name="Text 9"/>
          <p:cNvSpPr/>
          <p:nvPr/>
        </p:nvSpPr>
        <p:spPr>
          <a:xfrm>
            <a:off x="9654302" y="4274701"/>
            <a:ext cx="4182308" cy="952619"/>
          </a:xfrm>
          <a:prstGeom prst="rect">
            <a:avLst/>
          </a:prstGeom>
          <a:noFill/>
          <a:ln/>
        </p:spPr>
        <p:txBody>
          <a:bodyPr wrap="square" lIns="0" tIns="0" rIns="0" bIns="0" rtlCol="0" anchor="t"/>
          <a:lstStyle/>
          <a:p>
            <a:pPr marL="0" indent="0" algn="ctr">
              <a:lnSpc>
                <a:spcPts val="2500"/>
              </a:lnSpc>
              <a:buNone/>
            </a:pPr>
            <a:r>
              <a:rPr lang="en-US" sz="1550" dirty="0">
                <a:solidFill>
                  <a:srgbClr val="E5E0DF"/>
                </a:solidFill>
                <a:latin typeface="Inter" pitchFamily="34" charset="0"/>
                <a:ea typeface="Inter" pitchFamily="34" charset="-122"/>
                <a:cs typeface="Inter" pitchFamily="34" charset="-120"/>
              </a:rPr>
              <a:t>Without precomputation, BL_JPS (Boundary Labeling Jump Point Search) demonstrated superior performance across test scenarios.</a:t>
            </a:r>
            <a:endParaRPr lang="en-US" sz="1550" dirty="0"/>
          </a:p>
        </p:txBody>
      </p:sp>
      <p:sp>
        <p:nvSpPr>
          <p:cNvPr id="12" name="Text 10"/>
          <p:cNvSpPr/>
          <p:nvPr/>
        </p:nvSpPr>
        <p:spPr>
          <a:xfrm>
            <a:off x="793790" y="5768102"/>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For precomputation-enabled scenarios, Warthog's JPS2+ algorithm showed the best overall performance, consistent with GPPC 2014 competition results.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474827"/>
            <a:ext cx="6544032"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Future Research Directions</a:t>
            </a:r>
            <a:endParaRPr lang="en-US" sz="3900" dirty="0"/>
          </a:p>
        </p:txBody>
      </p:sp>
      <p:sp>
        <p:nvSpPr>
          <p:cNvPr id="3" name="Shape 1"/>
          <p:cNvSpPr/>
          <p:nvPr/>
        </p:nvSpPr>
        <p:spPr>
          <a:xfrm>
            <a:off x="793790" y="2491740"/>
            <a:ext cx="4215289" cy="3404592"/>
          </a:xfrm>
          <a:prstGeom prst="roundRect">
            <a:avLst>
              <a:gd name="adj" fmla="val 2448"/>
            </a:avLst>
          </a:prstGeom>
          <a:noFill/>
          <a:ln w="22860">
            <a:solidFill>
              <a:srgbClr val="2A1999"/>
            </a:solidFill>
            <a:prstDash val="solid"/>
          </a:ln>
        </p:spPr>
      </p:sp>
      <p:sp>
        <p:nvSpPr>
          <p:cNvPr id="4" name="Text 2"/>
          <p:cNvSpPr/>
          <p:nvPr/>
        </p:nvSpPr>
        <p:spPr>
          <a:xfrm>
            <a:off x="1015008" y="2712958"/>
            <a:ext cx="3577709"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Navigation Mesh Approaches</a:t>
            </a:r>
            <a:endParaRPr lang="en-US" sz="1950" dirty="0"/>
          </a:p>
        </p:txBody>
      </p:sp>
      <p:sp>
        <p:nvSpPr>
          <p:cNvPr id="5" name="Text 3"/>
          <p:cNvSpPr/>
          <p:nvPr/>
        </p:nvSpPr>
        <p:spPr>
          <a:xfrm>
            <a:off x="1015008" y="3142178"/>
            <a:ext cx="3772853" cy="222277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Implementing and evaluating dynamic NavMesh construction and updates using Python's ctypes for C++ library integration. This approach shows promise for handling large, complex environments with fewer memory requirements than grid-based methods.</a:t>
            </a:r>
            <a:endParaRPr lang="en-US" sz="1550" dirty="0"/>
          </a:p>
        </p:txBody>
      </p:sp>
      <p:sp>
        <p:nvSpPr>
          <p:cNvPr id="6" name="Shape 4"/>
          <p:cNvSpPr/>
          <p:nvPr/>
        </p:nvSpPr>
        <p:spPr>
          <a:xfrm>
            <a:off x="5207437" y="2491740"/>
            <a:ext cx="4215408" cy="3404592"/>
          </a:xfrm>
          <a:prstGeom prst="roundRect">
            <a:avLst>
              <a:gd name="adj" fmla="val 2448"/>
            </a:avLst>
          </a:prstGeom>
          <a:noFill/>
          <a:ln w="22860">
            <a:solidFill>
              <a:srgbClr val="2A1999"/>
            </a:solidFill>
            <a:prstDash val="solid"/>
          </a:ln>
        </p:spPr>
      </p:sp>
      <p:sp>
        <p:nvSpPr>
          <p:cNvPr id="7" name="Text 5"/>
          <p:cNvSpPr/>
          <p:nvPr/>
        </p:nvSpPr>
        <p:spPr>
          <a:xfrm>
            <a:off x="5428655" y="2712958"/>
            <a:ext cx="3772972" cy="620316"/>
          </a:xfrm>
          <a:prstGeom prst="rect">
            <a:avLst/>
          </a:prstGeom>
          <a:noFill/>
          <a:ln/>
        </p:spPr>
        <p:txBody>
          <a:bodyPr wrap="squar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Visibility Graph (VG) Techniques</a:t>
            </a:r>
            <a:endParaRPr lang="en-US" sz="1950" dirty="0"/>
          </a:p>
        </p:txBody>
      </p:sp>
      <p:sp>
        <p:nvSpPr>
          <p:cNvPr id="8" name="Text 6"/>
          <p:cNvSpPr/>
          <p:nvPr/>
        </p:nvSpPr>
        <p:spPr>
          <a:xfrm>
            <a:off x="5428655" y="3452336"/>
            <a:ext cx="3772972" cy="222277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Exploring visibility graph construction algorithms that can efficiently represent navigable space in large environments. This representation allows for optimal paths while reducing the computational complexity compared to grid-based approaches.</a:t>
            </a:r>
            <a:endParaRPr lang="en-US" sz="1550" dirty="0"/>
          </a:p>
        </p:txBody>
      </p:sp>
      <p:sp>
        <p:nvSpPr>
          <p:cNvPr id="9" name="Shape 7"/>
          <p:cNvSpPr/>
          <p:nvPr/>
        </p:nvSpPr>
        <p:spPr>
          <a:xfrm>
            <a:off x="9621203" y="2491740"/>
            <a:ext cx="4215289" cy="3404592"/>
          </a:xfrm>
          <a:prstGeom prst="roundRect">
            <a:avLst>
              <a:gd name="adj" fmla="val 2448"/>
            </a:avLst>
          </a:prstGeom>
          <a:noFill/>
          <a:ln w="22860">
            <a:solidFill>
              <a:srgbClr val="2A1999"/>
            </a:solidFill>
            <a:prstDash val="solid"/>
          </a:ln>
        </p:spPr>
      </p:sp>
      <p:sp>
        <p:nvSpPr>
          <p:cNvPr id="10" name="Text 8"/>
          <p:cNvSpPr/>
          <p:nvPr/>
        </p:nvSpPr>
        <p:spPr>
          <a:xfrm>
            <a:off x="9842421" y="271295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Hybrid Approaches</a:t>
            </a:r>
            <a:endParaRPr lang="en-US" sz="1950" dirty="0"/>
          </a:p>
        </p:txBody>
      </p:sp>
      <p:sp>
        <p:nvSpPr>
          <p:cNvPr id="11" name="Text 9"/>
          <p:cNvSpPr/>
          <p:nvPr/>
        </p:nvSpPr>
        <p:spPr>
          <a:xfrm>
            <a:off x="9842421" y="3142178"/>
            <a:ext cx="3772853" cy="190523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Combining the strengths of multiple algorithms: hierarchical decomposition for global planning, local techniques for fine-tuning, and precomputation strategies for runtime efficiency in large-scale scenarios.</a:t>
            </a:r>
            <a:endParaRPr lang="en-US" sz="1550" dirty="0"/>
          </a:p>
        </p:txBody>
      </p:sp>
      <p:sp>
        <p:nvSpPr>
          <p:cNvPr id="12" name="Text 10"/>
          <p:cNvSpPr/>
          <p:nvPr/>
        </p:nvSpPr>
        <p:spPr>
          <a:xfrm>
            <a:off x="793790" y="6119574"/>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Next steps include benchmarking these approaches on significantly larger maps (beyond the current 1024×1024 standard) and evaluating their performance in dynamic environments with changing obstacles.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994</Words>
  <Application>Microsoft Office PowerPoint</Application>
  <PresentationFormat>自定义</PresentationFormat>
  <Paragraphs>138</Paragraphs>
  <Slides>10</Slides>
  <Notes>10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10</vt:i4>
      </vt:variant>
    </vt:vector>
  </HeadingPairs>
  <TitlesOfParts>
    <vt:vector size="16" baseType="lpstr">
      <vt:lpstr>Inter</vt:lpstr>
      <vt:lpstr>Inter Bold</vt:lpstr>
      <vt:lpstr>等线</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
  <cp:lastModifiedBy>lihai cai</cp:lastModifiedBy>
  <cp:revision>16</cp:revision>
  <dcterms:created xsi:type="dcterms:W3CDTF">2025-07-18T04:21:50Z</dcterms:created>
  <dcterms:modified xsi:type="dcterms:W3CDTF">2025-07-18T08:10:19Z</dcterms:modified>
</cp:coreProperties>
</file>