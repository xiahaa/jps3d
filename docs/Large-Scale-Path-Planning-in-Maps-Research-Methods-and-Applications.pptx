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59487"/>
            <a:ext cx="7556421" cy="186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Large-Scale Path Planning in Maps: Research, Methods, and Applications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717375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comprehensive overview of current research, methodologies, and applications in large-scale pathfinding algorithms, with insights from leading researchers and practical implementations.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7350"/>
            <a:ext cx="1198745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Research Landscape: Key Players and Milestones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1999059"/>
            <a:ext cx="4215289" cy="91440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4" name="Shape 2"/>
          <p:cNvSpPr/>
          <p:nvPr/>
        </p:nvSpPr>
        <p:spPr>
          <a:xfrm>
            <a:off x="2603778" y="1724263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2B0AFF"/>
          </a:solidFill>
          <a:ln/>
        </p:spPr>
      </p:sp>
      <p:sp>
        <p:nvSpPr>
          <p:cNvPr id="5" name="Text 3"/>
          <p:cNvSpPr/>
          <p:nvPr/>
        </p:nvSpPr>
        <p:spPr>
          <a:xfrm>
            <a:off x="2782372" y="1873091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015008" y="2518053"/>
            <a:ext cx="377285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Computer Science/Gaming Pioneers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15008" y="3257431"/>
            <a:ext cx="377285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began approximately 15 years ago, largely driven by gaming industry requirements.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15008" y="4329113"/>
            <a:ext cx="377285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Adi Botea: HPA* (Hierarchical Pathfinding A*), CPD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15008" y="5033605"/>
            <a:ext cx="377285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Nathan R. Sturtevant: PRA* family algorithms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15008" y="5738098"/>
            <a:ext cx="377285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Daniel Harabor: Polyanya, JPS (Jump Point Search)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15008" y="6442591"/>
            <a:ext cx="377285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Sven Koenig: Various contributions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207437" y="1999059"/>
            <a:ext cx="4215408" cy="91440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017425" y="1724263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2B0AFF"/>
          </a:solidFill>
          <a:ln/>
        </p:spPr>
      </p:sp>
      <p:sp>
        <p:nvSpPr>
          <p:cNvPr id="14" name="Text 12"/>
          <p:cNvSpPr/>
          <p:nvPr/>
        </p:nvSpPr>
        <p:spPr>
          <a:xfrm>
            <a:off x="7196018" y="1873091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5428655" y="251805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Robotics Specialists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5428655" y="2947273"/>
            <a:ext cx="377297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Adapting pathfinding algorithms for real-world robotic applications with unique constraints.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428655" y="4018955"/>
            <a:ext cx="377297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Maxim Likhachev: MRA (Multi-Resolution A*), AMRA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428655" y="4723448"/>
            <a:ext cx="377297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Specialized implementations: CFA* (Cooperative FA*)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428655" y="5427940"/>
            <a:ext cx="377297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WaveStar: Wave propagation techniques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9621203" y="1999059"/>
            <a:ext cx="4215289" cy="91440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31191" y="1724263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2B0AFF"/>
          </a:solidFill>
          <a:ln/>
        </p:spPr>
      </p:sp>
      <p:sp>
        <p:nvSpPr>
          <p:cNvPr id="22" name="Text 20"/>
          <p:cNvSpPr/>
          <p:nvPr/>
        </p:nvSpPr>
        <p:spPr>
          <a:xfrm>
            <a:off x="11609784" y="1873091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9842421" y="2518053"/>
            <a:ext cx="377285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Distributed Computing Researchers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842421" y="3257431"/>
            <a:ext cx="377285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Focusing on parallelization and distribution of pathfinding workloads.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9842421" y="4011573"/>
            <a:ext cx="377285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Map-Reduce A* implementations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9842421" y="4398526"/>
            <a:ext cx="377285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Parallel processing techniques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9842421" y="4785479"/>
            <a:ext cx="377285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Cloud-based pathfinding solutions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793790" y="720459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identified through Google Scholar citation tracking, refined with "large map" queries, resulting in over 200 relevant publications.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6028" y="416600"/>
            <a:ext cx="6845618" cy="473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Current Benchmarks and Map Scales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06028" y="1268849"/>
            <a:ext cx="2737128" cy="236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MovingAI Dataset Dominance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06028" y="1656993"/>
            <a:ext cx="6524387" cy="242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current research relies on the MovingAI benchmark maps, which include: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06028" y="2035731"/>
            <a:ext cx="6524387" cy="242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Maps from StarCraft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06028" y="2331125"/>
            <a:ext cx="6524387" cy="242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Dragon Age: Origins environments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06028" y="2626519"/>
            <a:ext cx="6524387" cy="242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Various grid-based game worlds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06028" y="3005257"/>
            <a:ext cx="6524387" cy="242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maps have become the de facto standard for algorithm comparison and evaluation.</a:t>
            </a:r>
            <a:endParaRPr lang="en-US" sz="11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605" y="1287780"/>
            <a:ext cx="6524387" cy="652438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507605" y="7982545"/>
            <a:ext cx="6524387" cy="484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GPPC (Grid-Based Path Planning Competition) defines "big maps" as 1024×1024 grids, which represents the current upper bound for most published research.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73687"/>
            <a:ext cx="685145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Methodological Approaches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890599"/>
            <a:ext cx="4347567" cy="7937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2148" y="3882747"/>
            <a:ext cx="290155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Heuristic Improvements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992148" y="4311968"/>
            <a:ext cx="39508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Enhancing distance estimation functions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992148" y="4748570"/>
            <a:ext cx="39508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D* and variants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992148" y="5135523"/>
            <a:ext cx="39508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Any-angle pathfinding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92148" y="5522476"/>
            <a:ext cx="395085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Euclidean and Manhattan hybrid approaches</a:t>
            </a:r>
            <a:endParaRPr lang="en-US" sz="15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357" y="2890599"/>
            <a:ext cx="4347567" cy="7937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39715" y="3882747"/>
            <a:ext cx="294584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Hierarchical Abstraction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5339715" y="4311968"/>
            <a:ext cx="39508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Reducing search space complexity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5339715" y="4748570"/>
            <a:ext cx="39508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HPA* (Hierarchical Pathfinding A*)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339715" y="5135523"/>
            <a:ext cx="39508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JPS (Jump Point Search)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5339715" y="5522476"/>
            <a:ext cx="39508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Multi-level abstraction techniques</a:t>
            </a:r>
            <a:endParaRPr lang="en-US" sz="15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924" y="2890599"/>
            <a:ext cx="4347567" cy="79379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87282" y="3882747"/>
            <a:ext cx="320647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Engineering Optimizations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9687282" y="4311968"/>
            <a:ext cx="39508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Implementation-level enhancements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687282" y="4748570"/>
            <a:ext cx="39508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 management techniques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9687282" y="5135523"/>
            <a:ext cx="39508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Cache optimization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9687282" y="5522476"/>
            <a:ext cx="39508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Algorithmic refinements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16869"/>
            <a:ext cx="613802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Experimental Evaluations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2534603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comparative testing was conducted using the python-motion-planning repository as a unified framework, evaluating seven distinct pathfinding methods: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280190" y="3889058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A* (baseline algorithm)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280190" y="4276011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D* (Dynamic A*)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280190" y="4662964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JPS (Jump Point Search)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280190" y="5049917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THETA* (Any-angle pathfinding)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308074" y="3889058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Bidirectional search variants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0308074" y="4276011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Weighted A* implementations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0308074" y="4662964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approaches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280190" y="5660112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Monte Carlo experiments revealed no statistically significant performance differences between these methods when implemented in Python, suggesting that algorithmic changes alone are insufficient for large-scale improvements.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26419"/>
            <a:ext cx="809660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Implementation Language Impact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942511"/>
            <a:ext cx="4182189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50"/>
              </a:lnSpc>
              <a:buNone/>
            </a:pPr>
            <a:r>
              <a:rPr lang="en-US" sz="51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10-50x</a:t>
            </a:r>
            <a:endParaRPr lang="en-US" sz="5150" dirty="0"/>
          </a:p>
        </p:txBody>
      </p:sp>
      <p:sp>
        <p:nvSpPr>
          <p:cNvPr id="4" name="Text 2"/>
          <p:cNvSpPr/>
          <p:nvPr/>
        </p:nvSpPr>
        <p:spPr>
          <a:xfrm>
            <a:off x="1644372" y="384548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Speed Improvement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4274701"/>
            <a:ext cx="418218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Switching from Python to C++/C# implementations yielded dramatic performance gains across all algorithms.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223986" y="2942511"/>
            <a:ext cx="4182308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50"/>
              </a:lnSpc>
              <a:buNone/>
            </a:pPr>
            <a:r>
              <a:rPr lang="en-US" sz="51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PyBind11</a:t>
            </a:r>
            <a:endParaRPr lang="en-US" sz="5150" dirty="0"/>
          </a:p>
        </p:txBody>
      </p:sp>
      <p:sp>
        <p:nvSpPr>
          <p:cNvPr id="7" name="Text 5"/>
          <p:cNvSpPr/>
          <p:nvPr/>
        </p:nvSpPr>
        <p:spPr>
          <a:xfrm>
            <a:off x="6074688" y="384548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Integration Method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223986" y="4274701"/>
            <a:ext cx="418230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bindings allowed efficient utilization of native code performance while maintaining Python's flexibility for experimentation.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654302" y="2942511"/>
            <a:ext cx="4182308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50"/>
              </a:lnSpc>
              <a:buNone/>
            </a:pPr>
            <a:r>
              <a:rPr lang="en-US" sz="51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BL_JPS</a:t>
            </a:r>
            <a:endParaRPr lang="en-US" sz="5150" dirty="0"/>
          </a:p>
        </p:txBody>
      </p:sp>
      <p:sp>
        <p:nvSpPr>
          <p:cNvPr id="10" name="Text 8"/>
          <p:cNvSpPr/>
          <p:nvPr/>
        </p:nvSpPr>
        <p:spPr>
          <a:xfrm>
            <a:off x="10505003" y="384548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Best Performer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654302" y="4274701"/>
            <a:ext cx="418230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precomputation, BL_JPS (Boundary Labeling Jump Point Search) demonstrated superior performance across test scenarios.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93790" y="5768102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precomputation-enabled scenarios, Warthog's JPS2+ algorithm showed the best overall performance, consistent with GPPC 2014 competition results.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403" y="383858"/>
            <a:ext cx="6268998" cy="436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Comparative Algorithm Performance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403" y="1099423"/>
            <a:ext cx="13513594" cy="75676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8403" y="8824079"/>
            <a:ext cx="13513594" cy="446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 implementations evaluated include: JPS_planner_bindings, ThetaStarPlanner, BL_JPS, Warthog, RAstarBucket, and AMRA. Results broadly confirm the findings from the GPPC 2014 competition, with hierarchical and jump-point based methods consistently outperforming traditional approaches.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74827"/>
            <a:ext cx="654403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Research Directions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491740"/>
            <a:ext cx="4215289" cy="3404592"/>
          </a:xfrm>
          <a:prstGeom prst="roundRect">
            <a:avLst>
              <a:gd name="adj" fmla="val 2448"/>
            </a:avLst>
          </a:prstGeom>
          <a:noFill/>
          <a:ln w="22860">
            <a:solidFill>
              <a:srgbClr val="2A1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5008" y="2712958"/>
            <a:ext cx="357770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Navigation Mesh Approaches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15008" y="3142178"/>
            <a:ext cx="3772853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Implementing and evaluating dynamic NavMesh construction and updates using Python's ctypes for C++ library integration. This approach shows promise for handling large, complex environments with fewer memory requirements than grid-based methods.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207437" y="2491740"/>
            <a:ext cx="4215408" cy="3404592"/>
          </a:xfrm>
          <a:prstGeom prst="roundRect">
            <a:avLst>
              <a:gd name="adj" fmla="val 2448"/>
            </a:avLst>
          </a:prstGeom>
          <a:noFill/>
          <a:ln w="22860">
            <a:solidFill>
              <a:srgbClr val="2A19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28655" y="2712958"/>
            <a:ext cx="3772972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Visibility Graph (VG) Techniques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428655" y="3452336"/>
            <a:ext cx="3772972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Exploring visibility graph construction algorithms that can efficiently represent navigable space in large environments. This representation allows for optimal paths while reducing the computational complexity compared to grid-based approaches.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9621203" y="2491740"/>
            <a:ext cx="4215289" cy="3404592"/>
          </a:xfrm>
          <a:prstGeom prst="roundRect">
            <a:avLst>
              <a:gd name="adj" fmla="val 2448"/>
            </a:avLst>
          </a:prstGeom>
          <a:noFill/>
          <a:ln w="22860">
            <a:solidFill>
              <a:srgbClr val="2A19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42421" y="271295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Hybrid Approaches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842421" y="3142178"/>
            <a:ext cx="3772853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Combining the strengths of multiple algorithms: hierarchical decomposition for global planning, local techniques for fine-tuning, and precomputation strategies for runtime efficiency in large-scale scenarios.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93790" y="6119574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steps include benchmarking these approaches on significantly larger maps (beyond the current 1024×1024 standard) and evaluating their performance in dynamic environments with changing obstacles.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2025-07-18T04:21:50Z</dcterms:created>
  <dcterms:modified xsi:type="dcterms:W3CDTF">2025-07-18T04:21:50Z</dcterms:modified>
</cp:coreProperties>
</file>